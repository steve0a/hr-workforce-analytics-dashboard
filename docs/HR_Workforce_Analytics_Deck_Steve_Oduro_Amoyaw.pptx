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70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5189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0:40</a:t>
            </a:r>
          </a:p>
          <a:p>
            <a:r>
              <a:t>Today I am requesting approval for a four-week pilot that uses a standardized HR data process and a Tableau dashboard to give HR and operations one consistent view of workforce distribution. The goal is not to replace HR systems; it is to make existing employee data easier to review, validate, and use for workforce-planning decisions.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1:00</a:t>
            </a:r>
          </a:p>
          <a:p>
            <a:r>
              <a:t>The situation is that HR has employee-level information that can support planning. The complication is that the source data was not analysis-ready. I cleaned and structured the data, then used Tableau to create views for departments, roles, geography, and employee details. The recommendation is a short pilot that establishes a repeatable reporting rhythm.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1:00</a:t>
            </a:r>
          </a:p>
          <a:p>
            <a:r>
              <a:t>This slide shows the business problem. The original HR extract contained all employee fields in one text column separated by semicolons. That structure prevents consistent filtering, grouping, and reporting. I transformed it into separate fields such as department, job title, compensation, performance rating, hire date, and termination date. This made the Tableau analysis possible.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1:00</a:t>
            </a:r>
          </a:p>
          <a:p>
            <a:r>
              <a:t>The department view creates a practical starting point. The dashboard shows Operations as the largest population at 2,429 employees, followed by Sales at 1,634 and Customer Service at 1,489. These are workforce-size signals, not claims about performance or turnover. A pilot should start here because any staffing, engagement, scheduling, or retention question affects more people in these departments.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 1:00</a:t>
            </a:r>
          </a:p>
          <a:p>
            <a:r>
              <a:rPr dirty="0"/>
              <a:t>The dashboard identifies where to start, not the final answer. The role view shows Logistics Coordinators at 1,061 and Inventory Specialists at 1,044 employees. The location map shows a visible concentration in New York. For the pilot, the review sequence should begin with large workforce segments, then add operational data needed to understand staffing, workforce planning, or retention questions.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1:00</a:t>
            </a:r>
          </a:p>
          <a:p>
            <a:r>
              <a:t>There are three realistic options. Continuing ad hoc spreadsheet reporting is immediate but does not solve consistency. Buying a new platform may be appropriate eventually, but it is expensive and premature before validating the reporting process. The recommended option is a four-week Excel-to-Tableau pilot. It is low-cost if current tool access already exists, fast to deploy, and creates evidence for a future technology decision.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1:00</a:t>
            </a:r>
          </a:p>
          <a:p>
            <a:r>
              <a:t>The recommendation is deliberately simple. The dashboard is only valuable if people use it in a repeatable process. HR owns the data refresh and reporting pack. Department leaders validate what the numbers mean operationally. Leadership sponsors follow-up actions. The technology remains lightweight: a standardized Excel input and Tableau output with appropriate access controls.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1:20</a:t>
            </a:r>
          </a:p>
          <a:p>
            <a:r>
              <a:t>The ask is to approve a four-week pilot, not a large technology investment. In week one, the HR analyst prepares and validates the source-data template. In week two, the dashboard is refreshed and baseline findings are reviewed. In week three, department leaders validate questions and identify missing data. In week four, leadership decides whether to continue, refine, or scale the process. Success is measured by data readiness, review completion, and a documented set of priority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85216"/>
            <a:ext cx="91440" cy="4480560"/>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051560"/>
            <a:ext cx="6537960" cy="1508760"/>
          </a:xfrm>
          <a:prstGeom prst="rect">
            <a:avLst/>
          </a:prstGeom>
          <a:noFill/>
        </p:spPr>
        <p:txBody>
          <a:bodyPr wrap="square" anchor="t">
            <a:spAutoFit/>
          </a:bodyPr>
          <a:lstStyle/>
          <a:p>
            <a:pPr algn="l"/>
            <a:r>
              <a:rPr sz="2900" b="1">
                <a:solidFill>
                  <a:srgbClr val="FFFFFF"/>
                </a:solidFill>
                <a:latin typeface="Arial"/>
              </a:rPr>
              <a:t>Approve a four-week pilot to standardize HR reporting and prioritize workforce reviews</a:t>
            </a:r>
          </a:p>
        </p:txBody>
      </p:sp>
      <p:sp>
        <p:nvSpPr>
          <p:cNvPr id="5" name="TextBox 4"/>
          <p:cNvSpPr txBox="1"/>
          <p:nvPr/>
        </p:nvSpPr>
        <p:spPr>
          <a:xfrm>
            <a:off x="841248" y="2880360"/>
            <a:ext cx="6217920" cy="640080"/>
          </a:xfrm>
          <a:prstGeom prst="rect">
            <a:avLst/>
          </a:prstGeom>
          <a:noFill/>
        </p:spPr>
        <p:txBody>
          <a:bodyPr wrap="square" anchor="t">
            <a:spAutoFit/>
          </a:bodyPr>
          <a:lstStyle/>
          <a:p>
            <a:pPr algn="l"/>
            <a:r>
              <a:rPr sz="1600" b="0">
                <a:solidFill>
                  <a:srgbClr val="DCDCDC"/>
                </a:solidFill>
                <a:latin typeface="Arial"/>
              </a:rPr>
              <a:t>HR Workforce Analytics Dashboard
Turning fragmented employee data into workforce decisions</a:t>
            </a:r>
          </a:p>
        </p:txBody>
      </p:sp>
      <p:sp>
        <p:nvSpPr>
          <p:cNvPr id="6" name="TextBox 5"/>
          <p:cNvSpPr txBox="1"/>
          <p:nvPr/>
        </p:nvSpPr>
        <p:spPr>
          <a:xfrm>
            <a:off x="841248" y="6126480"/>
            <a:ext cx="5029200" cy="261610"/>
          </a:xfrm>
          <a:prstGeom prst="rect">
            <a:avLst/>
          </a:prstGeom>
          <a:noFill/>
        </p:spPr>
        <p:txBody>
          <a:bodyPr wrap="square" anchor="t">
            <a:spAutoFit/>
          </a:bodyPr>
          <a:lstStyle/>
          <a:p>
            <a:pPr algn="l"/>
            <a:r>
              <a:rPr sz="1100" b="0" dirty="0">
                <a:solidFill>
                  <a:srgbClr val="BEBEBE"/>
                </a:solidFill>
                <a:latin typeface="Arial"/>
              </a:rPr>
              <a:t>Steve Okyere Oduro-Amoyaw | </a:t>
            </a:r>
            <a:r>
              <a:rPr lang="en-US" sz="1100" dirty="0">
                <a:solidFill>
                  <a:srgbClr val="BEBEBE"/>
                </a:solidFill>
                <a:latin typeface="Arial"/>
              </a:rPr>
              <a:t>August</a:t>
            </a:r>
            <a:r>
              <a:rPr sz="1100" b="0" dirty="0">
                <a:solidFill>
                  <a:srgbClr val="BEBEBE"/>
                </a:solidFill>
                <a:latin typeface="Arial"/>
              </a:rPr>
              <a:t> 202</a:t>
            </a:r>
            <a:r>
              <a:rPr lang="en-US" sz="1100" b="0" dirty="0">
                <a:solidFill>
                  <a:srgbClr val="BEBEBE"/>
                </a:solidFill>
                <a:latin typeface="Arial"/>
              </a:rPr>
              <a:t>5</a:t>
            </a:r>
            <a:endParaRPr sz="1100" b="0" dirty="0">
              <a:solidFill>
                <a:srgbClr val="BEBEBE"/>
              </a:solidFill>
              <a:latin typeface="Arial"/>
            </a:endParaRPr>
          </a:p>
        </p:txBody>
      </p:sp>
      <p:pic>
        <p:nvPicPr>
          <p:cNvPr id="7" name="Picture 6" descr="Department-Analysis.jpg"/>
          <p:cNvPicPr>
            <a:picLocks noChangeAspect="1"/>
          </p:cNvPicPr>
          <p:nvPr/>
        </p:nvPicPr>
        <p:blipFill>
          <a:blip r:embed="rId3"/>
          <a:stretch>
            <a:fillRect/>
          </a:stretch>
        </p:blipFill>
        <p:spPr>
          <a:xfrm>
            <a:off x="7726679" y="1024128"/>
            <a:ext cx="3886200" cy="4526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89920" cy="594360"/>
          </a:xfrm>
          <a:prstGeom prst="rect">
            <a:avLst/>
          </a:prstGeom>
          <a:noFill/>
        </p:spPr>
        <p:txBody>
          <a:bodyPr wrap="square" anchor="t">
            <a:spAutoFit/>
          </a:bodyPr>
          <a:lstStyle/>
          <a:p>
            <a:pPr algn="l"/>
            <a:r>
              <a:rPr sz="2600" b="1">
                <a:solidFill>
                  <a:srgbClr val="000000"/>
                </a:solidFill>
                <a:latin typeface="Arial"/>
              </a:rPr>
              <a:t>Standardized data and one dashboard can focus HR reviews on the largest workforce segments</a:t>
            </a:r>
          </a:p>
        </p:txBody>
      </p:sp>
      <p:sp>
        <p:nvSpPr>
          <p:cNvPr id="3" name="Rectangle 2"/>
          <p:cNvSpPr/>
          <p:nvPr/>
        </p:nvSpPr>
        <p:spPr>
          <a:xfrm>
            <a:off x="566928" y="1100230"/>
            <a:ext cx="1051560" cy="5029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73952"/>
            <a:ext cx="320040" cy="182880"/>
          </a:xfrm>
          <a:prstGeom prst="rect">
            <a:avLst/>
          </a:prstGeom>
          <a:noFill/>
        </p:spPr>
        <p:txBody>
          <a:bodyPr wrap="square" anchor="t">
            <a:spAutoFit/>
          </a:bodyPr>
          <a:lstStyle/>
          <a:p>
            <a:pPr algn="r"/>
            <a:r>
              <a:rPr sz="900" b="0">
                <a:solidFill>
                  <a:srgbClr val="666666"/>
                </a:solidFill>
                <a:latin typeface="Arial"/>
              </a:rPr>
              <a:t>2</a:t>
            </a:r>
          </a:p>
        </p:txBody>
      </p:sp>
      <p:sp>
        <p:nvSpPr>
          <p:cNvPr id="5" name="Rectangle 4"/>
          <p:cNvSpPr/>
          <p:nvPr/>
        </p:nvSpPr>
        <p:spPr>
          <a:xfrm>
            <a:off x="566928" y="1261872"/>
            <a:ext cx="1417320" cy="84124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4944" y="1508760"/>
            <a:ext cx="1161288" cy="237744"/>
          </a:xfrm>
          <a:prstGeom prst="rect">
            <a:avLst/>
          </a:prstGeom>
          <a:noFill/>
        </p:spPr>
        <p:txBody>
          <a:bodyPr wrap="square" anchor="t">
            <a:spAutoFit/>
          </a:bodyPr>
          <a:lstStyle/>
          <a:p>
            <a:pPr algn="ctr"/>
            <a:r>
              <a:rPr sz="1100" b="1">
                <a:solidFill>
                  <a:srgbClr val="FFFFFF"/>
                </a:solidFill>
                <a:latin typeface="Arial"/>
              </a:rPr>
              <a:t>SITUATION</a:t>
            </a:r>
          </a:p>
        </p:txBody>
      </p:sp>
      <p:sp>
        <p:nvSpPr>
          <p:cNvPr id="7" name="Rectangle 6"/>
          <p:cNvSpPr/>
          <p:nvPr/>
        </p:nvSpPr>
        <p:spPr>
          <a:xfrm>
            <a:off x="2029968" y="1261872"/>
            <a:ext cx="9326880" cy="841248"/>
          </a:xfrm>
          <a:prstGeom prst="rect">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67712" y="1481328"/>
            <a:ext cx="8869680" cy="365760"/>
          </a:xfrm>
          <a:prstGeom prst="rect">
            <a:avLst/>
          </a:prstGeom>
          <a:noFill/>
        </p:spPr>
        <p:txBody>
          <a:bodyPr wrap="square" anchor="t">
            <a:spAutoFit/>
          </a:bodyPr>
          <a:lstStyle/>
          <a:p>
            <a:pPr algn="l"/>
            <a:r>
              <a:rPr sz="1400" b="0">
                <a:solidFill>
                  <a:srgbClr val="000000"/>
                </a:solidFill>
                <a:latin typeface="Arial"/>
              </a:rPr>
              <a:t>Employee records include department, job title, location, salary, performance, and dates.</a:t>
            </a:r>
          </a:p>
        </p:txBody>
      </p:sp>
      <p:sp>
        <p:nvSpPr>
          <p:cNvPr id="9" name="Rectangle 8"/>
          <p:cNvSpPr/>
          <p:nvPr/>
        </p:nvSpPr>
        <p:spPr>
          <a:xfrm>
            <a:off x="566928" y="2295144"/>
            <a:ext cx="1417320" cy="84124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 y="2584963"/>
            <a:ext cx="1353312" cy="261610"/>
          </a:xfrm>
          <a:prstGeom prst="rect">
            <a:avLst/>
          </a:prstGeom>
          <a:noFill/>
        </p:spPr>
        <p:txBody>
          <a:bodyPr wrap="square" anchor="t">
            <a:spAutoFit/>
          </a:bodyPr>
          <a:lstStyle/>
          <a:p>
            <a:pPr algn="ctr"/>
            <a:r>
              <a:rPr sz="1100" b="1" dirty="0">
                <a:solidFill>
                  <a:srgbClr val="FFFFFF"/>
                </a:solidFill>
                <a:latin typeface="Arial"/>
              </a:rPr>
              <a:t>COMPLICATION</a:t>
            </a:r>
          </a:p>
        </p:txBody>
      </p:sp>
      <p:sp>
        <p:nvSpPr>
          <p:cNvPr id="11" name="Rectangle 10"/>
          <p:cNvSpPr/>
          <p:nvPr/>
        </p:nvSpPr>
        <p:spPr>
          <a:xfrm>
            <a:off x="2029968" y="2295144"/>
            <a:ext cx="9326880" cy="841248"/>
          </a:xfrm>
          <a:prstGeom prst="rect">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67712" y="2514600"/>
            <a:ext cx="8869680" cy="365760"/>
          </a:xfrm>
          <a:prstGeom prst="rect">
            <a:avLst/>
          </a:prstGeom>
          <a:noFill/>
        </p:spPr>
        <p:txBody>
          <a:bodyPr wrap="square" anchor="t">
            <a:spAutoFit/>
          </a:bodyPr>
          <a:lstStyle/>
          <a:p>
            <a:pPr algn="l"/>
            <a:r>
              <a:rPr sz="1400" b="0">
                <a:solidFill>
                  <a:srgbClr val="000000"/>
                </a:solidFill>
                <a:latin typeface="Arial"/>
              </a:rPr>
              <a:t>Source data initially stored employee fields as semicolon-delimited text in one column.</a:t>
            </a:r>
          </a:p>
        </p:txBody>
      </p:sp>
      <p:sp>
        <p:nvSpPr>
          <p:cNvPr id="13" name="Rectangle 12"/>
          <p:cNvSpPr/>
          <p:nvPr/>
        </p:nvSpPr>
        <p:spPr>
          <a:xfrm>
            <a:off x="566928" y="3328415"/>
            <a:ext cx="1417320" cy="84124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 y="3575303"/>
            <a:ext cx="1161288" cy="237744"/>
          </a:xfrm>
          <a:prstGeom prst="rect">
            <a:avLst/>
          </a:prstGeom>
          <a:noFill/>
        </p:spPr>
        <p:txBody>
          <a:bodyPr wrap="square" anchor="t">
            <a:spAutoFit/>
          </a:bodyPr>
          <a:lstStyle/>
          <a:p>
            <a:pPr algn="ctr"/>
            <a:r>
              <a:rPr sz="1100" b="1">
                <a:solidFill>
                  <a:srgbClr val="FFFFFF"/>
                </a:solidFill>
                <a:latin typeface="Arial"/>
              </a:rPr>
              <a:t>QUESTION</a:t>
            </a:r>
          </a:p>
        </p:txBody>
      </p:sp>
      <p:sp>
        <p:nvSpPr>
          <p:cNvPr id="15" name="Rectangle 14"/>
          <p:cNvSpPr/>
          <p:nvPr/>
        </p:nvSpPr>
        <p:spPr>
          <a:xfrm>
            <a:off x="2029968" y="3328415"/>
            <a:ext cx="9326880" cy="841248"/>
          </a:xfrm>
          <a:prstGeom prst="rect">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67712" y="3547872"/>
            <a:ext cx="8869680" cy="365760"/>
          </a:xfrm>
          <a:prstGeom prst="rect">
            <a:avLst/>
          </a:prstGeom>
          <a:noFill/>
        </p:spPr>
        <p:txBody>
          <a:bodyPr wrap="square" anchor="t">
            <a:spAutoFit/>
          </a:bodyPr>
          <a:lstStyle/>
          <a:p>
            <a:pPr algn="l"/>
            <a:r>
              <a:rPr sz="1400" b="0">
                <a:solidFill>
                  <a:srgbClr val="000000"/>
                </a:solidFill>
                <a:latin typeface="Arial"/>
              </a:rPr>
              <a:t>How can HR make workforce reporting consistent and actionable using current tools?</a:t>
            </a:r>
          </a:p>
        </p:txBody>
      </p:sp>
      <p:sp>
        <p:nvSpPr>
          <p:cNvPr id="17" name="Rectangle 16"/>
          <p:cNvSpPr/>
          <p:nvPr/>
        </p:nvSpPr>
        <p:spPr>
          <a:xfrm>
            <a:off x="566928" y="4361688"/>
            <a:ext cx="1417320" cy="84124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4608575"/>
            <a:ext cx="1161288" cy="237744"/>
          </a:xfrm>
          <a:prstGeom prst="rect">
            <a:avLst/>
          </a:prstGeom>
          <a:noFill/>
        </p:spPr>
        <p:txBody>
          <a:bodyPr wrap="square" anchor="t">
            <a:spAutoFit/>
          </a:bodyPr>
          <a:lstStyle/>
          <a:p>
            <a:pPr algn="ctr"/>
            <a:r>
              <a:rPr sz="1100" b="1">
                <a:solidFill>
                  <a:srgbClr val="FFFFFF"/>
                </a:solidFill>
                <a:latin typeface="Arial"/>
              </a:rPr>
              <a:t>ANSWER</a:t>
            </a:r>
          </a:p>
        </p:txBody>
      </p:sp>
      <p:sp>
        <p:nvSpPr>
          <p:cNvPr id="19" name="Rectangle 18"/>
          <p:cNvSpPr/>
          <p:nvPr/>
        </p:nvSpPr>
        <p:spPr>
          <a:xfrm>
            <a:off x="2029968" y="4361688"/>
            <a:ext cx="9326880" cy="841248"/>
          </a:xfrm>
          <a:prstGeom prst="rect">
            <a:avLst/>
          </a:prstGeom>
          <a:solidFill>
            <a:srgbClr val="FCF0F0"/>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67712" y="4581144"/>
            <a:ext cx="8869680" cy="365760"/>
          </a:xfrm>
          <a:prstGeom prst="rect">
            <a:avLst/>
          </a:prstGeom>
          <a:noFill/>
        </p:spPr>
        <p:txBody>
          <a:bodyPr wrap="square" anchor="t">
            <a:spAutoFit/>
          </a:bodyPr>
          <a:lstStyle/>
          <a:p>
            <a:pPr algn="l"/>
            <a:r>
              <a:rPr sz="1400" b="1">
                <a:solidFill>
                  <a:srgbClr val="000000"/>
                </a:solidFill>
                <a:latin typeface="Arial"/>
              </a:rPr>
              <a:t>Run a four-week Tableau reporting pilot and review departments, roles, locations, and tenure weekly.</a:t>
            </a:r>
          </a:p>
        </p:txBody>
      </p:sp>
      <p:sp>
        <p:nvSpPr>
          <p:cNvPr id="21" name="Rectangle 20"/>
          <p:cNvSpPr/>
          <p:nvPr/>
        </p:nvSpPr>
        <p:spPr>
          <a:xfrm>
            <a:off x="502920" y="5998464"/>
            <a:ext cx="11173968" cy="310896"/>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 y="6053328"/>
            <a:ext cx="10789920" cy="164592"/>
          </a:xfrm>
          <a:prstGeom prst="rect">
            <a:avLst/>
          </a:prstGeom>
          <a:noFill/>
        </p:spPr>
        <p:txBody>
          <a:bodyPr wrap="square" anchor="t">
            <a:spAutoFit/>
          </a:bodyPr>
          <a:lstStyle/>
          <a:p>
            <a:pPr algn="l"/>
            <a:r>
              <a:rPr sz="1000" b="1">
                <a:solidFill>
                  <a:srgbClr val="FFFFFF"/>
                </a:solidFill>
                <a:latin typeface="Arial"/>
              </a:rPr>
              <a:t>So what: Approve a limited pilot using existing Excel and Tableau tools.</a:t>
            </a:r>
          </a:p>
        </p:txBody>
      </p:sp>
      <p:sp>
        <p:nvSpPr>
          <p:cNvPr id="23" name="TextBox 22"/>
          <p:cNvSpPr txBox="1"/>
          <p:nvPr/>
        </p:nvSpPr>
        <p:spPr>
          <a:xfrm>
            <a:off x="502920" y="6455664"/>
            <a:ext cx="9875520" cy="201168"/>
          </a:xfrm>
          <a:prstGeom prst="rect">
            <a:avLst/>
          </a:prstGeom>
          <a:noFill/>
        </p:spPr>
        <p:txBody>
          <a:bodyPr wrap="square" anchor="t">
            <a:spAutoFit/>
          </a:bodyPr>
          <a:lstStyle/>
          <a:p>
            <a:pPr algn="l"/>
            <a:r>
              <a:rPr sz="800" b="0">
                <a:solidFill>
                  <a:srgbClr val="666666"/>
                </a:solidFill>
                <a:latin typeface="Arial"/>
              </a:rPr>
              <a:t>Source: HR project workbook, dashboard screenshots, and proposed pilot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89920" cy="892552"/>
          </a:xfrm>
          <a:prstGeom prst="rect">
            <a:avLst/>
          </a:prstGeom>
          <a:noFill/>
        </p:spPr>
        <p:txBody>
          <a:bodyPr wrap="square" anchor="t">
            <a:spAutoFit/>
          </a:bodyPr>
          <a:lstStyle/>
          <a:p>
            <a:pPr algn="l"/>
            <a:r>
              <a:rPr sz="2600" b="1" dirty="0">
                <a:solidFill>
                  <a:srgbClr val="000000"/>
                </a:solidFill>
                <a:latin typeface="Arial"/>
              </a:rPr>
              <a:t>One-column source data prevented reliable workforce reporting until the fields were </a:t>
            </a:r>
            <a:r>
              <a:rPr lang="en-US" sz="2600" b="1" dirty="0">
                <a:solidFill>
                  <a:srgbClr val="000000"/>
                </a:solidFill>
                <a:latin typeface="Arial"/>
              </a:rPr>
              <a:t>cleaned , validated and </a:t>
            </a:r>
            <a:r>
              <a:rPr sz="2600" b="1" dirty="0">
                <a:solidFill>
                  <a:srgbClr val="000000"/>
                </a:solidFill>
                <a:latin typeface="Arial"/>
              </a:rPr>
              <a:t>standardized</a:t>
            </a:r>
          </a:p>
        </p:txBody>
      </p:sp>
      <p:sp>
        <p:nvSpPr>
          <p:cNvPr id="3" name="Rectangle 2"/>
          <p:cNvSpPr/>
          <p:nvPr/>
        </p:nvSpPr>
        <p:spPr>
          <a:xfrm>
            <a:off x="640080" y="1117854"/>
            <a:ext cx="1051560" cy="5029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73952"/>
            <a:ext cx="320040" cy="182880"/>
          </a:xfrm>
          <a:prstGeom prst="rect">
            <a:avLst/>
          </a:prstGeom>
          <a:noFill/>
        </p:spPr>
        <p:txBody>
          <a:bodyPr wrap="square" anchor="t">
            <a:spAutoFit/>
          </a:bodyPr>
          <a:lstStyle/>
          <a:p>
            <a:pPr algn="r"/>
            <a:r>
              <a:rPr sz="900" b="0">
                <a:solidFill>
                  <a:srgbClr val="666666"/>
                </a:solidFill>
                <a:latin typeface="Arial"/>
              </a:rPr>
              <a:t>3</a:t>
            </a:r>
          </a:p>
        </p:txBody>
      </p:sp>
      <p:sp>
        <p:nvSpPr>
          <p:cNvPr id="5" name="TextBox 4"/>
          <p:cNvSpPr txBox="1"/>
          <p:nvPr/>
        </p:nvSpPr>
        <p:spPr>
          <a:xfrm>
            <a:off x="640080" y="1143000"/>
            <a:ext cx="3657600" cy="256032"/>
          </a:xfrm>
          <a:prstGeom prst="rect">
            <a:avLst/>
          </a:prstGeom>
          <a:noFill/>
        </p:spPr>
        <p:txBody>
          <a:bodyPr wrap="square" anchor="t">
            <a:spAutoFit/>
          </a:bodyPr>
          <a:lstStyle/>
          <a:p>
            <a:pPr algn="ctr"/>
            <a:r>
              <a:rPr sz="1300" b="1">
                <a:solidFill>
                  <a:srgbClr val="850000"/>
                </a:solidFill>
                <a:latin typeface="Arial"/>
              </a:rPr>
              <a:t>RAW TEXT</a:t>
            </a:r>
          </a:p>
        </p:txBody>
      </p:sp>
      <p:sp>
        <p:nvSpPr>
          <p:cNvPr id="6" name="TextBox 5"/>
          <p:cNvSpPr txBox="1"/>
          <p:nvPr/>
        </p:nvSpPr>
        <p:spPr>
          <a:xfrm>
            <a:off x="6446520" y="1143000"/>
            <a:ext cx="4389120" cy="256032"/>
          </a:xfrm>
          <a:prstGeom prst="rect">
            <a:avLst/>
          </a:prstGeom>
          <a:noFill/>
        </p:spPr>
        <p:txBody>
          <a:bodyPr wrap="square" anchor="t">
            <a:spAutoFit/>
          </a:bodyPr>
          <a:lstStyle/>
          <a:p>
            <a:pPr algn="ctr"/>
            <a:r>
              <a:rPr sz="1300" b="1">
                <a:solidFill>
                  <a:srgbClr val="850000"/>
                </a:solidFill>
                <a:latin typeface="Arial"/>
              </a:rPr>
              <a:t>STRUCTURED EMPLOYEE DATA</a:t>
            </a:r>
          </a:p>
        </p:txBody>
      </p:sp>
      <p:pic>
        <p:nvPicPr>
          <p:cNvPr id="7" name="Picture 6" descr="HR-Messy-Data.jpg"/>
          <p:cNvPicPr>
            <a:picLocks noChangeAspect="1"/>
          </p:cNvPicPr>
          <p:nvPr/>
        </p:nvPicPr>
        <p:blipFill>
          <a:blip r:embed="rId3"/>
          <a:stretch>
            <a:fillRect/>
          </a:stretch>
        </p:blipFill>
        <p:spPr>
          <a:xfrm>
            <a:off x="594360" y="1508760"/>
            <a:ext cx="4892040" cy="3246120"/>
          </a:xfrm>
          <a:prstGeom prst="rect">
            <a:avLst/>
          </a:prstGeom>
        </p:spPr>
      </p:pic>
      <p:pic>
        <p:nvPicPr>
          <p:cNvPr id="8" name="Picture 7" descr="HR-Messy-Data-Organized-Numbers.jpg"/>
          <p:cNvPicPr>
            <a:picLocks noChangeAspect="1"/>
          </p:cNvPicPr>
          <p:nvPr/>
        </p:nvPicPr>
        <p:blipFill>
          <a:blip r:embed="rId4"/>
          <a:stretch>
            <a:fillRect/>
          </a:stretch>
        </p:blipFill>
        <p:spPr>
          <a:xfrm>
            <a:off x="6400800" y="1508760"/>
            <a:ext cx="5074920" cy="3246120"/>
          </a:xfrm>
          <a:prstGeom prst="rect">
            <a:avLst/>
          </a:prstGeom>
        </p:spPr>
      </p:pic>
      <p:sp>
        <p:nvSpPr>
          <p:cNvPr id="9" name="TextBox 8"/>
          <p:cNvSpPr txBox="1"/>
          <p:nvPr/>
        </p:nvSpPr>
        <p:spPr>
          <a:xfrm>
            <a:off x="5623560" y="2788920"/>
            <a:ext cx="502920" cy="502920"/>
          </a:xfrm>
          <a:prstGeom prst="rect">
            <a:avLst/>
          </a:prstGeom>
          <a:noFill/>
        </p:spPr>
        <p:txBody>
          <a:bodyPr wrap="square" anchor="t">
            <a:spAutoFit/>
          </a:bodyPr>
          <a:lstStyle/>
          <a:p>
            <a:pPr algn="ctr"/>
            <a:r>
              <a:rPr sz="3000" b="1">
                <a:solidFill>
                  <a:srgbClr val="850000"/>
                </a:solidFill>
                <a:latin typeface="Arial"/>
              </a:rPr>
              <a:t>→</a:t>
            </a:r>
          </a:p>
        </p:txBody>
      </p:sp>
      <p:sp>
        <p:nvSpPr>
          <p:cNvPr id="10" name="Rounded Rectangle 9"/>
          <p:cNvSpPr/>
          <p:nvPr/>
        </p:nvSpPr>
        <p:spPr>
          <a:xfrm>
            <a:off x="658368" y="4983480"/>
            <a:ext cx="3377185" cy="978408"/>
          </a:xfrm>
          <a:prstGeom prst="roundRect">
            <a:avLst>
              <a:gd name="adj" fmla="val 8000"/>
            </a:avLst>
          </a:prstGeom>
          <a:solidFill>
            <a:srgbClr val="FDFDFD"/>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8" y="5093208"/>
            <a:ext cx="3286925" cy="307777"/>
          </a:xfrm>
          <a:prstGeom prst="rect">
            <a:avLst/>
          </a:prstGeom>
          <a:noFill/>
        </p:spPr>
        <p:txBody>
          <a:bodyPr wrap="square" anchor="t">
            <a:spAutoFit/>
          </a:bodyPr>
          <a:lstStyle/>
          <a:p>
            <a:pPr algn="l"/>
            <a:r>
              <a:rPr sz="1400" b="1" dirty="0">
                <a:solidFill>
                  <a:srgbClr val="000000"/>
                </a:solidFill>
                <a:latin typeface="Arial"/>
              </a:rPr>
              <a:t>Data preparation enabled analysis</a:t>
            </a:r>
          </a:p>
        </p:txBody>
      </p:sp>
      <p:sp>
        <p:nvSpPr>
          <p:cNvPr id="12" name="TextBox 11"/>
          <p:cNvSpPr txBox="1"/>
          <p:nvPr/>
        </p:nvSpPr>
        <p:spPr>
          <a:xfrm>
            <a:off x="841247" y="5458968"/>
            <a:ext cx="3194306" cy="430887"/>
          </a:xfrm>
          <a:prstGeom prst="rect">
            <a:avLst/>
          </a:prstGeom>
          <a:noFill/>
        </p:spPr>
        <p:txBody>
          <a:bodyPr wrap="square" anchor="t">
            <a:spAutoFit/>
          </a:bodyPr>
          <a:lstStyle/>
          <a:p>
            <a:pPr algn="l"/>
            <a:r>
              <a:rPr sz="1100" b="0" dirty="0">
                <a:solidFill>
                  <a:srgbClr val="000000"/>
                </a:solidFill>
                <a:latin typeface="Arial"/>
              </a:rPr>
              <a:t>•</a:t>
            </a:r>
            <a:r>
              <a:rPr lang="en-US" sz="1100" b="0" dirty="0">
                <a:solidFill>
                  <a:srgbClr val="000000"/>
                </a:solidFill>
                <a:latin typeface="Arial"/>
              </a:rPr>
              <a:t>Clean , validate and</a:t>
            </a:r>
            <a:r>
              <a:rPr sz="1100" b="0" dirty="0">
                <a:solidFill>
                  <a:srgbClr val="000000"/>
                </a:solidFill>
                <a:latin typeface="Arial"/>
              </a:rPr>
              <a:t> Split semicolon-delimited text into employee fields</a:t>
            </a:r>
          </a:p>
        </p:txBody>
      </p:sp>
      <p:sp>
        <p:nvSpPr>
          <p:cNvPr id="13" name="Rounded Rectangle 12"/>
          <p:cNvSpPr/>
          <p:nvPr/>
        </p:nvSpPr>
        <p:spPr>
          <a:xfrm>
            <a:off x="4407408" y="4983480"/>
            <a:ext cx="3377185" cy="978408"/>
          </a:xfrm>
          <a:prstGeom prst="roundRect">
            <a:avLst>
              <a:gd name="adj" fmla="val 8000"/>
            </a:avLst>
          </a:prstGeom>
          <a:solidFill>
            <a:srgbClr val="FDFDFD"/>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5093208"/>
            <a:ext cx="3054096" cy="274320"/>
          </a:xfrm>
          <a:prstGeom prst="rect">
            <a:avLst/>
          </a:prstGeom>
          <a:noFill/>
        </p:spPr>
        <p:txBody>
          <a:bodyPr wrap="square" anchor="t">
            <a:spAutoFit/>
          </a:bodyPr>
          <a:lstStyle/>
          <a:p>
            <a:pPr algn="l"/>
            <a:r>
              <a:rPr sz="1400" b="1" dirty="0">
                <a:solidFill>
                  <a:srgbClr val="000000"/>
                </a:solidFill>
                <a:latin typeface="Arial"/>
              </a:rPr>
              <a:t>Fields became usable</a:t>
            </a:r>
          </a:p>
        </p:txBody>
      </p:sp>
      <p:sp>
        <p:nvSpPr>
          <p:cNvPr id="15" name="TextBox 14"/>
          <p:cNvSpPr txBox="1"/>
          <p:nvPr/>
        </p:nvSpPr>
        <p:spPr>
          <a:xfrm>
            <a:off x="4590287" y="5458968"/>
            <a:ext cx="3194305" cy="430887"/>
          </a:xfrm>
          <a:prstGeom prst="rect">
            <a:avLst/>
          </a:prstGeom>
          <a:noFill/>
        </p:spPr>
        <p:txBody>
          <a:bodyPr wrap="square" anchor="t">
            <a:spAutoFit/>
          </a:bodyPr>
          <a:lstStyle/>
          <a:p>
            <a:pPr algn="l"/>
            <a:r>
              <a:rPr sz="1100" b="0" dirty="0">
                <a:solidFill>
                  <a:srgbClr val="000000"/>
                </a:solidFill>
                <a:latin typeface="Arial"/>
              </a:rPr>
              <a:t>• Department, title, salary, Locations</a:t>
            </a:r>
            <a:r>
              <a:rPr lang="en-US" sz="1100" b="0" dirty="0">
                <a:solidFill>
                  <a:srgbClr val="000000"/>
                </a:solidFill>
                <a:latin typeface="Arial"/>
              </a:rPr>
              <a:t>, states,</a:t>
            </a:r>
            <a:r>
              <a:rPr sz="1100" b="0" dirty="0">
                <a:solidFill>
                  <a:srgbClr val="000000"/>
                </a:solidFill>
                <a:latin typeface="Arial"/>
              </a:rPr>
              <a:t> dates, performance</a:t>
            </a:r>
          </a:p>
        </p:txBody>
      </p:sp>
      <p:sp>
        <p:nvSpPr>
          <p:cNvPr id="16" name="Rounded Rectangle 15"/>
          <p:cNvSpPr/>
          <p:nvPr/>
        </p:nvSpPr>
        <p:spPr>
          <a:xfrm>
            <a:off x="8156448" y="4983480"/>
            <a:ext cx="3319272" cy="978408"/>
          </a:xfrm>
          <a:prstGeom prst="roundRect">
            <a:avLst>
              <a:gd name="adj" fmla="val 8000"/>
            </a:avLst>
          </a:prstGeom>
          <a:solidFill>
            <a:srgbClr val="FDFDFD"/>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5093208"/>
            <a:ext cx="3054096" cy="274320"/>
          </a:xfrm>
          <a:prstGeom prst="rect">
            <a:avLst/>
          </a:prstGeom>
          <a:noFill/>
        </p:spPr>
        <p:txBody>
          <a:bodyPr wrap="square" anchor="t">
            <a:spAutoFit/>
          </a:bodyPr>
          <a:lstStyle/>
          <a:p>
            <a:pPr algn="l"/>
            <a:r>
              <a:rPr sz="1400" b="1">
                <a:solidFill>
                  <a:srgbClr val="000000"/>
                </a:solidFill>
                <a:latin typeface="Arial"/>
              </a:rPr>
              <a:t>Dashboard became possible</a:t>
            </a:r>
          </a:p>
        </p:txBody>
      </p:sp>
      <p:sp>
        <p:nvSpPr>
          <p:cNvPr id="18" name="TextBox 17"/>
          <p:cNvSpPr txBox="1"/>
          <p:nvPr/>
        </p:nvSpPr>
        <p:spPr>
          <a:xfrm>
            <a:off x="8339327" y="5458968"/>
            <a:ext cx="3017520" cy="256032"/>
          </a:xfrm>
          <a:prstGeom prst="rect">
            <a:avLst/>
          </a:prstGeom>
          <a:noFill/>
        </p:spPr>
        <p:txBody>
          <a:bodyPr wrap="square" anchor="t">
            <a:spAutoFit/>
          </a:bodyPr>
          <a:lstStyle/>
          <a:p>
            <a:pPr algn="l"/>
            <a:r>
              <a:rPr sz="1100" b="0" dirty="0">
                <a:solidFill>
                  <a:srgbClr val="000000"/>
                </a:solidFill>
                <a:latin typeface="Arial"/>
              </a:rPr>
              <a:t>• Filters, rankings, maps, and employee detail views</a:t>
            </a:r>
          </a:p>
        </p:txBody>
      </p:sp>
      <p:sp>
        <p:nvSpPr>
          <p:cNvPr id="19" name="Rectangle 18"/>
          <p:cNvSpPr/>
          <p:nvPr/>
        </p:nvSpPr>
        <p:spPr>
          <a:xfrm>
            <a:off x="502920" y="5998464"/>
            <a:ext cx="11173968" cy="310896"/>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 y="6053328"/>
            <a:ext cx="10789920" cy="164592"/>
          </a:xfrm>
          <a:prstGeom prst="rect">
            <a:avLst/>
          </a:prstGeom>
          <a:noFill/>
        </p:spPr>
        <p:txBody>
          <a:bodyPr wrap="square" anchor="t">
            <a:spAutoFit/>
          </a:bodyPr>
          <a:lstStyle/>
          <a:p>
            <a:pPr algn="l"/>
            <a:r>
              <a:rPr sz="1000" b="1">
                <a:solidFill>
                  <a:srgbClr val="FFFFFF"/>
                </a:solidFill>
                <a:latin typeface="Arial"/>
              </a:rPr>
              <a:t>So what: Data preparation was the prerequisite for credible workforce analysis.</a:t>
            </a:r>
          </a:p>
        </p:txBody>
      </p:sp>
      <p:sp>
        <p:nvSpPr>
          <p:cNvPr id="21" name="TextBox 20"/>
          <p:cNvSpPr txBox="1"/>
          <p:nvPr/>
        </p:nvSpPr>
        <p:spPr>
          <a:xfrm>
            <a:off x="502920" y="6455664"/>
            <a:ext cx="9875520" cy="201168"/>
          </a:xfrm>
          <a:prstGeom prst="rect">
            <a:avLst/>
          </a:prstGeom>
          <a:noFill/>
        </p:spPr>
        <p:txBody>
          <a:bodyPr wrap="square" anchor="t">
            <a:spAutoFit/>
          </a:bodyPr>
          <a:lstStyle/>
          <a:p>
            <a:pPr algn="l"/>
            <a:r>
              <a:rPr sz="800" b="0">
                <a:solidFill>
                  <a:srgbClr val="666666"/>
                </a:solidFill>
                <a:latin typeface="Arial"/>
              </a:rPr>
              <a:t>Source: HR project source-data screenshots; HR Workforce Analytics Dashboard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89920" cy="594360"/>
          </a:xfrm>
          <a:prstGeom prst="rect">
            <a:avLst/>
          </a:prstGeom>
          <a:noFill/>
        </p:spPr>
        <p:txBody>
          <a:bodyPr wrap="square" anchor="t">
            <a:spAutoFit/>
          </a:bodyPr>
          <a:lstStyle/>
          <a:p>
            <a:pPr algn="l"/>
            <a:r>
              <a:rPr sz="2600" b="1">
                <a:solidFill>
                  <a:srgbClr val="000000"/>
                </a:solidFill>
                <a:latin typeface="Arial"/>
              </a:rPr>
              <a:t>Operations, Sales, and Customer Service contain the largest employee populations to review first</a:t>
            </a:r>
          </a:p>
        </p:txBody>
      </p:sp>
      <p:sp>
        <p:nvSpPr>
          <p:cNvPr id="3" name="Rectangle 2"/>
          <p:cNvSpPr/>
          <p:nvPr/>
        </p:nvSpPr>
        <p:spPr>
          <a:xfrm>
            <a:off x="566928" y="1092708"/>
            <a:ext cx="1051560" cy="5029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73952"/>
            <a:ext cx="320040" cy="182880"/>
          </a:xfrm>
          <a:prstGeom prst="rect">
            <a:avLst/>
          </a:prstGeom>
          <a:noFill/>
        </p:spPr>
        <p:txBody>
          <a:bodyPr wrap="square" anchor="t">
            <a:spAutoFit/>
          </a:bodyPr>
          <a:lstStyle/>
          <a:p>
            <a:pPr algn="r"/>
            <a:r>
              <a:rPr sz="900" b="0">
                <a:solidFill>
                  <a:srgbClr val="666666"/>
                </a:solidFill>
                <a:latin typeface="Arial"/>
              </a:rPr>
              <a:t>4</a:t>
            </a:r>
          </a:p>
        </p:txBody>
      </p:sp>
      <p:pic>
        <p:nvPicPr>
          <p:cNvPr id="5" name="Picture 4" descr="Department-Analysis.jpg"/>
          <p:cNvPicPr>
            <a:picLocks noChangeAspect="1"/>
          </p:cNvPicPr>
          <p:nvPr/>
        </p:nvPicPr>
        <p:blipFill>
          <a:blip r:embed="rId3"/>
          <a:stretch>
            <a:fillRect/>
          </a:stretch>
        </p:blipFill>
        <p:spPr>
          <a:xfrm>
            <a:off x="566928" y="1234440"/>
            <a:ext cx="7360920" cy="4389120"/>
          </a:xfrm>
          <a:prstGeom prst="rect">
            <a:avLst/>
          </a:prstGeom>
        </p:spPr>
      </p:pic>
      <p:sp>
        <p:nvSpPr>
          <p:cNvPr id="6" name="Rounded Rectangle 5"/>
          <p:cNvSpPr/>
          <p:nvPr/>
        </p:nvSpPr>
        <p:spPr>
          <a:xfrm>
            <a:off x="8275320" y="1371600"/>
            <a:ext cx="3246120" cy="3337560"/>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0" y="1572768"/>
            <a:ext cx="2788920" cy="274320"/>
          </a:xfrm>
          <a:prstGeom prst="rect">
            <a:avLst/>
          </a:prstGeom>
          <a:noFill/>
        </p:spPr>
        <p:txBody>
          <a:bodyPr wrap="square" anchor="t">
            <a:spAutoFit/>
          </a:bodyPr>
          <a:lstStyle/>
          <a:p>
            <a:pPr algn="l"/>
            <a:r>
              <a:rPr sz="1500" b="1">
                <a:solidFill>
                  <a:srgbClr val="000000"/>
                </a:solidFill>
                <a:latin typeface="Arial"/>
              </a:rPr>
              <a:t>Largest populations shown</a:t>
            </a:r>
          </a:p>
        </p:txBody>
      </p:sp>
      <p:sp>
        <p:nvSpPr>
          <p:cNvPr id="8" name="Rectangle 7"/>
          <p:cNvSpPr/>
          <p:nvPr/>
        </p:nvSpPr>
        <p:spPr>
          <a:xfrm>
            <a:off x="8485632" y="2103120"/>
            <a:ext cx="91440" cy="43891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2176272"/>
            <a:ext cx="1737360" cy="228600"/>
          </a:xfrm>
          <a:prstGeom prst="rect">
            <a:avLst/>
          </a:prstGeom>
          <a:noFill/>
        </p:spPr>
        <p:txBody>
          <a:bodyPr wrap="square" anchor="t">
            <a:spAutoFit/>
          </a:bodyPr>
          <a:lstStyle/>
          <a:p>
            <a:pPr algn="l"/>
            <a:r>
              <a:rPr sz="1300" b="1">
                <a:solidFill>
                  <a:srgbClr val="000000"/>
                </a:solidFill>
                <a:latin typeface="Arial"/>
              </a:rPr>
              <a:t>Operations</a:t>
            </a:r>
          </a:p>
        </p:txBody>
      </p:sp>
      <p:sp>
        <p:nvSpPr>
          <p:cNvPr id="10" name="TextBox 9"/>
          <p:cNvSpPr txBox="1"/>
          <p:nvPr/>
        </p:nvSpPr>
        <p:spPr>
          <a:xfrm>
            <a:off x="10442448" y="2157984"/>
            <a:ext cx="777240" cy="237744"/>
          </a:xfrm>
          <a:prstGeom prst="rect">
            <a:avLst/>
          </a:prstGeom>
          <a:noFill/>
        </p:spPr>
        <p:txBody>
          <a:bodyPr wrap="square" anchor="t">
            <a:spAutoFit/>
          </a:bodyPr>
          <a:lstStyle/>
          <a:p>
            <a:pPr algn="r"/>
            <a:r>
              <a:rPr sz="1500" b="1">
                <a:solidFill>
                  <a:srgbClr val="850000"/>
                </a:solidFill>
                <a:latin typeface="Arial"/>
              </a:rPr>
              <a:t>2,429</a:t>
            </a:r>
          </a:p>
        </p:txBody>
      </p:sp>
      <p:sp>
        <p:nvSpPr>
          <p:cNvPr id="11" name="Rectangle 10"/>
          <p:cNvSpPr/>
          <p:nvPr/>
        </p:nvSpPr>
        <p:spPr>
          <a:xfrm>
            <a:off x="8485632" y="2761487"/>
            <a:ext cx="91440" cy="43891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32520" y="2834639"/>
            <a:ext cx="1737360" cy="228600"/>
          </a:xfrm>
          <a:prstGeom prst="rect">
            <a:avLst/>
          </a:prstGeom>
          <a:noFill/>
        </p:spPr>
        <p:txBody>
          <a:bodyPr wrap="square" anchor="t">
            <a:spAutoFit/>
          </a:bodyPr>
          <a:lstStyle/>
          <a:p>
            <a:pPr algn="l"/>
            <a:r>
              <a:rPr sz="1300" b="1">
                <a:solidFill>
                  <a:srgbClr val="000000"/>
                </a:solidFill>
                <a:latin typeface="Arial"/>
              </a:rPr>
              <a:t>Sales</a:t>
            </a:r>
          </a:p>
        </p:txBody>
      </p:sp>
      <p:sp>
        <p:nvSpPr>
          <p:cNvPr id="13" name="TextBox 12"/>
          <p:cNvSpPr txBox="1"/>
          <p:nvPr/>
        </p:nvSpPr>
        <p:spPr>
          <a:xfrm>
            <a:off x="10442448" y="2816351"/>
            <a:ext cx="777240" cy="237744"/>
          </a:xfrm>
          <a:prstGeom prst="rect">
            <a:avLst/>
          </a:prstGeom>
          <a:noFill/>
        </p:spPr>
        <p:txBody>
          <a:bodyPr wrap="square" anchor="t">
            <a:spAutoFit/>
          </a:bodyPr>
          <a:lstStyle/>
          <a:p>
            <a:pPr algn="r"/>
            <a:r>
              <a:rPr sz="1500" b="1">
                <a:solidFill>
                  <a:srgbClr val="850000"/>
                </a:solidFill>
                <a:latin typeface="Arial"/>
              </a:rPr>
              <a:t>1,634</a:t>
            </a:r>
          </a:p>
        </p:txBody>
      </p:sp>
      <p:sp>
        <p:nvSpPr>
          <p:cNvPr id="14" name="Rectangle 13"/>
          <p:cNvSpPr/>
          <p:nvPr/>
        </p:nvSpPr>
        <p:spPr>
          <a:xfrm>
            <a:off x="8485632" y="3419855"/>
            <a:ext cx="91440" cy="43891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32520" y="3493007"/>
            <a:ext cx="1737360" cy="228600"/>
          </a:xfrm>
          <a:prstGeom prst="rect">
            <a:avLst/>
          </a:prstGeom>
          <a:noFill/>
        </p:spPr>
        <p:txBody>
          <a:bodyPr wrap="square" anchor="t">
            <a:spAutoFit/>
          </a:bodyPr>
          <a:lstStyle/>
          <a:p>
            <a:pPr algn="l"/>
            <a:r>
              <a:rPr sz="1300" b="1">
                <a:solidFill>
                  <a:srgbClr val="000000"/>
                </a:solidFill>
                <a:latin typeface="Arial"/>
              </a:rPr>
              <a:t>Customer Service</a:t>
            </a:r>
          </a:p>
        </p:txBody>
      </p:sp>
      <p:sp>
        <p:nvSpPr>
          <p:cNvPr id="16" name="TextBox 15"/>
          <p:cNvSpPr txBox="1"/>
          <p:nvPr/>
        </p:nvSpPr>
        <p:spPr>
          <a:xfrm>
            <a:off x="10442448" y="3474719"/>
            <a:ext cx="777240" cy="237744"/>
          </a:xfrm>
          <a:prstGeom prst="rect">
            <a:avLst/>
          </a:prstGeom>
          <a:noFill/>
        </p:spPr>
        <p:txBody>
          <a:bodyPr wrap="square" anchor="t">
            <a:spAutoFit/>
          </a:bodyPr>
          <a:lstStyle/>
          <a:p>
            <a:pPr algn="r"/>
            <a:r>
              <a:rPr sz="1500" b="1">
                <a:solidFill>
                  <a:srgbClr val="850000"/>
                </a:solidFill>
                <a:latin typeface="Arial"/>
              </a:rPr>
              <a:t>1,489</a:t>
            </a:r>
          </a:p>
        </p:txBody>
      </p:sp>
      <p:sp>
        <p:nvSpPr>
          <p:cNvPr id="17" name="TextBox 16"/>
          <p:cNvSpPr txBox="1"/>
          <p:nvPr/>
        </p:nvSpPr>
        <p:spPr>
          <a:xfrm>
            <a:off x="8503920" y="4160520"/>
            <a:ext cx="2697480" cy="365760"/>
          </a:xfrm>
          <a:prstGeom prst="rect">
            <a:avLst/>
          </a:prstGeom>
          <a:noFill/>
        </p:spPr>
        <p:txBody>
          <a:bodyPr wrap="square" anchor="t">
            <a:spAutoFit/>
          </a:bodyPr>
          <a:lstStyle/>
          <a:p>
            <a:pPr algn="l"/>
            <a:r>
              <a:rPr sz="1000" b="0">
                <a:solidFill>
                  <a:srgbClr val="666666"/>
                </a:solidFill>
                <a:latin typeface="Arial"/>
              </a:rPr>
              <a:t>Use workforce size to sequence initial reviews; it does not indicate performance or turnover.</a:t>
            </a:r>
          </a:p>
        </p:txBody>
      </p:sp>
      <p:sp>
        <p:nvSpPr>
          <p:cNvPr id="18" name="Rectangle 17"/>
          <p:cNvSpPr/>
          <p:nvPr/>
        </p:nvSpPr>
        <p:spPr>
          <a:xfrm>
            <a:off x="502920" y="5998464"/>
            <a:ext cx="11173968" cy="310896"/>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6053328"/>
            <a:ext cx="10789920" cy="164592"/>
          </a:xfrm>
          <a:prstGeom prst="rect">
            <a:avLst/>
          </a:prstGeom>
          <a:noFill/>
        </p:spPr>
        <p:txBody>
          <a:bodyPr wrap="square" anchor="t">
            <a:spAutoFit/>
          </a:bodyPr>
          <a:lstStyle/>
          <a:p>
            <a:pPr algn="l"/>
            <a:r>
              <a:rPr sz="1000" b="1">
                <a:solidFill>
                  <a:srgbClr val="FFFFFF"/>
                </a:solidFill>
                <a:latin typeface="Arial"/>
              </a:rPr>
              <a:t>So what: Begin workforce reviews with the three largest employee populations.</a:t>
            </a:r>
          </a:p>
        </p:txBody>
      </p:sp>
      <p:sp>
        <p:nvSpPr>
          <p:cNvPr id="20" name="TextBox 19"/>
          <p:cNvSpPr txBox="1"/>
          <p:nvPr/>
        </p:nvSpPr>
        <p:spPr>
          <a:xfrm>
            <a:off x="502920" y="6455664"/>
            <a:ext cx="9875520" cy="201168"/>
          </a:xfrm>
          <a:prstGeom prst="rect">
            <a:avLst/>
          </a:prstGeom>
          <a:noFill/>
        </p:spPr>
        <p:txBody>
          <a:bodyPr wrap="square" anchor="t">
            <a:spAutoFit/>
          </a:bodyPr>
          <a:lstStyle/>
          <a:p>
            <a:pPr algn="l"/>
            <a:r>
              <a:rPr sz="800" b="0">
                <a:solidFill>
                  <a:srgbClr val="666666"/>
                </a:solidFill>
                <a:latin typeface="Arial"/>
              </a:rPr>
              <a:t>Source: HR Analytics Story Board — Department Distribution. Counts shown in project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89920" cy="594360"/>
          </a:xfrm>
          <a:prstGeom prst="rect">
            <a:avLst/>
          </a:prstGeom>
          <a:noFill/>
        </p:spPr>
        <p:txBody>
          <a:bodyPr wrap="square" anchor="t">
            <a:spAutoFit/>
          </a:bodyPr>
          <a:lstStyle/>
          <a:p>
            <a:pPr algn="l"/>
            <a:r>
              <a:rPr sz="2600" b="1">
                <a:solidFill>
                  <a:srgbClr val="000000"/>
                </a:solidFill>
                <a:latin typeface="Arial"/>
              </a:rPr>
              <a:t>High-volume roles and locations should be reviewed before lower-scale workforce segments</a:t>
            </a:r>
          </a:p>
        </p:txBody>
      </p:sp>
      <p:sp>
        <p:nvSpPr>
          <p:cNvPr id="3" name="Rectangle 2"/>
          <p:cNvSpPr/>
          <p:nvPr/>
        </p:nvSpPr>
        <p:spPr>
          <a:xfrm>
            <a:off x="594360" y="1110996"/>
            <a:ext cx="1051560" cy="5029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73952"/>
            <a:ext cx="320040" cy="182880"/>
          </a:xfrm>
          <a:prstGeom prst="rect">
            <a:avLst/>
          </a:prstGeom>
          <a:noFill/>
        </p:spPr>
        <p:txBody>
          <a:bodyPr wrap="square" anchor="t">
            <a:spAutoFit/>
          </a:bodyPr>
          <a:lstStyle/>
          <a:p>
            <a:pPr algn="r"/>
            <a:r>
              <a:rPr sz="900" b="0">
                <a:solidFill>
                  <a:srgbClr val="666666"/>
                </a:solidFill>
                <a:latin typeface="Arial"/>
              </a:rPr>
              <a:t>5</a:t>
            </a:r>
          </a:p>
        </p:txBody>
      </p:sp>
      <p:pic>
        <p:nvPicPr>
          <p:cNvPr id="5" name="Picture 4" descr="jobtitle-by-population.jpg"/>
          <p:cNvPicPr>
            <a:picLocks noChangeAspect="1"/>
          </p:cNvPicPr>
          <p:nvPr/>
        </p:nvPicPr>
        <p:blipFill>
          <a:blip r:embed="rId3"/>
          <a:stretch>
            <a:fillRect/>
          </a:stretch>
        </p:blipFill>
        <p:spPr>
          <a:xfrm>
            <a:off x="566928" y="1170432"/>
            <a:ext cx="5577840" cy="3456432"/>
          </a:xfrm>
          <a:prstGeom prst="rect">
            <a:avLst/>
          </a:prstGeom>
        </p:spPr>
      </p:pic>
      <p:pic>
        <p:nvPicPr>
          <p:cNvPr id="6" name="Picture 5" descr="Department-Location-Analysis.jpg"/>
          <p:cNvPicPr>
            <a:picLocks noChangeAspect="1"/>
          </p:cNvPicPr>
          <p:nvPr/>
        </p:nvPicPr>
        <p:blipFill>
          <a:blip r:embed="rId4"/>
          <a:stretch>
            <a:fillRect/>
          </a:stretch>
        </p:blipFill>
        <p:spPr>
          <a:xfrm>
            <a:off x="6382512" y="1170432"/>
            <a:ext cx="5157216" cy="3456432"/>
          </a:xfrm>
          <a:prstGeom prst="rect">
            <a:avLst/>
          </a:prstGeom>
        </p:spPr>
      </p:pic>
      <p:sp>
        <p:nvSpPr>
          <p:cNvPr id="7" name="Rounded Rectangle 6"/>
          <p:cNvSpPr/>
          <p:nvPr/>
        </p:nvSpPr>
        <p:spPr>
          <a:xfrm>
            <a:off x="594360" y="4873752"/>
            <a:ext cx="10972800" cy="749808"/>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5010912"/>
            <a:ext cx="1188720" cy="219456"/>
          </a:xfrm>
          <a:prstGeom prst="rect">
            <a:avLst/>
          </a:prstGeom>
          <a:noFill/>
        </p:spPr>
        <p:txBody>
          <a:bodyPr wrap="square" anchor="t">
            <a:spAutoFit/>
          </a:bodyPr>
          <a:lstStyle/>
          <a:p>
            <a:pPr algn="l"/>
            <a:r>
              <a:rPr sz="1300" b="1">
                <a:solidFill>
                  <a:srgbClr val="850000"/>
                </a:solidFill>
                <a:latin typeface="Arial"/>
              </a:rPr>
              <a:t>Priority logic</a:t>
            </a:r>
          </a:p>
        </p:txBody>
      </p:sp>
      <p:sp>
        <p:nvSpPr>
          <p:cNvPr id="9" name="TextBox 8"/>
          <p:cNvSpPr txBox="1"/>
          <p:nvPr/>
        </p:nvSpPr>
        <p:spPr>
          <a:xfrm>
            <a:off x="1828800" y="4992624"/>
            <a:ext cx="9235440" cy="256032"/>
          </a:xfrm>
          <a:prstGeom prst="rect">
            <a:avLst/>
          </a:prstGeom>
          <a:noFill/>
        </p:spPr>
        <p:txBody>
          <a:bodyPr wrap="square" anchor="t">
            <a:spAutoFit/>
          </a:bodyPr>
          <a:lstStyle/>
          <a:p>
            <a:pPr algn="l"/>
            <a:r>
              <a:rPr sz="1100" b="0">
                <a:solidFill>
                  <a:srgbClr val="000000"/>
                </a:solidFill>
                <a:latin typeface="Arial"/>
              </a:rPr>
              <a:t>Size: employee volume  |  Decision relevance: staffing or service implications  |  Data readiness: complete employee records</a:t>
            </a:r>
          </a:p>
        </p:txBody>
      </p:sp>
      <p:sp>
        <p:nvSpPr>
          <p:cNvPr id="10" name="TextBox 9"/>
          <p:cNvSpPr txBox="1"/>
          <p:nvPr/>
        </p:nvSpPr>
        <p:spPr>
          <a:xfrm>
            <a:off x="1828800" y="5312664"/>
            <a:ext cx="10149840" cy="182880"/>
          </a:xfrm>
          <a:prstGeom prst="rect">
            <a:avLst/>
          </a:prstGeom>
          <a:noFill/>
        </p:spPr>
        <p:txBody>
          <a:bodyPr wrap="square" anchor="t">
            <a:spAutoFit/>
          </a:bodyPr>
          <a:lstStyle/>
          <a:p>
            <a:pPr algn="l"/>
            <a:r>
              <a:rPr sz="1000" b="0" dirty="0">
                <a:solidFill>
                  <a:srgbClr val="666666"/>
                </a:solidFill>
                <a:latin typeface="Arial"/>
              </a:rPr>
              <a:t>Illustrative prioritization: Operations, Logistics Coordinators (1,061), Inventory Specialists (1,044), and New York locations.</a:t>
            </a:r>
          </a:p>
        </p:txBody>
      </p:sp>
      <p:sp>
        <p:nvSpPr>
          <p:cNvPr id="11" name="Rectangle 10"/>
          <p:cNvSpPr/>
          <p:nvPr/>
        </p:nvSpPr>
        <p:spPr>
          <a:xfrm>
            <a:off x="502920" y="5998464"/>
            <a:ext cx="11173968" cy="310896"/>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6053328"/>
            <a:ext cx="10789920" cy="164592"/>
          </a:xfrm>
          <a:prstGeom prst="rect">
            <a:avLst/>
          </a:prstGeom>
          <a:noFill/>
        </p:spPr>
        <p:txBody>
          <a:bodyPr wrap="square" anchor="t">
            <a:spAutoFit/>
          </a:bodyPr>
          <a:lstStyle/>
          <a:p>
            <a:pPr algn="l"/>
            <a:r>
              <a:rPr sz="1000" b="1">
                <a:solidFill>
                  <a:srgbClr val="FFFFFF"/>
                </a:solidFill>
                <a:latin typeface="Arial"/>
              </a:rPr>
              <a:t>So what: Review the highest-volume departments, roles, and locations first.</a:t>
            </a:r>
          </a:p>
        </p:txBody>
      </p:sp>
      <p:sp>
        <p:nvSpPr>
          <p:cNvPr id="13" name="TextBox 12"/>
          <p:cNvSpPr txBox="1"/>
          <p:nvPr/>
        </p:nvSpPr>
        <p:spPr>
          <a:xfrm>
            <a:off x="502920" y="6455664"/>
            <a:ext cx="9875520" cy="201168"/>
          </a:xfrm>
          <a:prstGeom prst="rect">
            <a:avLst/>
          </a:prstGeom>
          <a:noFill/>
        </p:spPr>
        <p:txBody>
          <a:bodyPr wrap="square" anchor="t">
            <a:spAutoFit/>
          </a:bodyPr>
          <a:lstStyle/>
          <a:p>
            <a:pPr algn="l"/>
            <a:r>
              <a:rPr sz="800" b="0" dirty="0">
                <a:solidFill>
                  <a:srgbClr val="666666"/>
                </a:solidFill>
                <a:latin typeface="Arial"/>
              </a:rPr>
              <a:t>Source: HR Analytics Story Board — job-title and location views. Priority is illustrative and volume-based.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89920" cy="594360"/>
          </a:xfrm>
          <a:prstGeom prst="rect">
            <a:avLst/>
          </a:prstGeom>
          <a:noFill/>
        </p:spPr>
        <p:txBody>
          <a:bodyPr wrap="square" anchor="t">
            <a:spAutoFit/>
          </a:bodyPr>
          <a:lstStyle/>
          <a:p>
            <a:pPr algn="l"/>
            <a:r>
              <a:rPr sz="2600" b="1">
                <a:solidFill>
                  <a:srgbClr val="000000"/>
                </a:solidFill>
                <a:latin typeface="Arial"/>
              </a:rPr>
              <a:t>A four-week dashboard pilot is faster and lower risk than new-system implementation</a:t>
            </a:r>
          </a:p>
        </p:txBody>
      </p:sp>
      <p:sp>
        <p:nvSpPr>
          <p:cNvPr id="3" name="Rectangle 2"/>
          <p:cNvSpPr/>
          <p:nvPr/>
        </p:nvSpPr>
        <p:spPr>
          <a:xfrm>
            <a:off x="566928" y="1130882"/>
            <a:ext cx="1051560" cy="5029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73952"/>
            <a:ext cx="320040" cy="182880"/>
          </a:xfrm>
          <a:prstGeom prst="rect">
            <a:avLst/>
          </a:prstGeom>
          <a:noFill/>
        </p:spPr>
        <p:txBody>
          <a:bodyPr wrap="square" anchor="t">
            <a:spAutoFit/>
          </a:bodyPr>
          <a:lstStyle/>
          <a:p>
            <a:pPr algn="r"/>
            <a:r>
              <a:rPr sz="900" b="0">
                <a:solidFill>
                  <a:srgbClr val="666666"/>
                </a:solidFill>
                <a:latin typeface="Arial"/>
              </a:rPr>
              <a:t>6</a:t>
            </a:r>
          </a:p>
        </p:txBody>
      </p:sp>
      <p:sp>
        <p:nvSpPr>
          <p:cNvPr id="5" name="Rectangle 4"/>
          <p:cNvSpPr/>
          <p:nvPr/>
        </p:nvSpPr>
        <p:spPr>
          <a:xfrm>
            <a:off x="566928" y="1417320"/>
            <a:ext cx="3547872" cy="45720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545336"/>
            <a:ext cx="3364991" cy="182880"/>
          </a:xfrm>
          <a:prstGeom prst="rect">
            <a:avLst/>
          </a:prstGeom>
          <a:noFill/>
        </p:spPr>
        <p:txBody>
          <a:bodyPr wrap="square" anchor="t">
            <a:spAutoFit/>
          </a:bodyPr>
          <a:lstStyle/>
          <a:p>
            <a:pPr algn="l"/>
            <a:r>
              <a:rPr sz="1100" b="1">
                <a:solidFill>
                  <a:srgbClr val="FFFFFF"/>
                </a:solidFill>
                <a:latin typeface="Arial"/>
              </a:rPr>
              <a:t>Option</a:t>
            </a:r>
          </a:p>
        </p:txBody>
      </p:sp>
      <p:sp>
        <p:nvSpPr>
          <p:cNvPr id="7" name="Rectangle 6"/>
          <p:cNvSpPr/>
          <p:nvPr/>
        </p:nvSpPr>
        <p:spPr>
          <a:xfrm>
            <a:off x="4206240" y="1417320"/>
            <a:ext cx="1261872" cy="45720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79" y="1545336"/>
            <a:ext cx="1078992" cy="182880"/>
          </a:xfrm>
          <a:prstGeom prst="rect">
            <a:avLst/>
          </a:prstGeom>
          <a:noFill/>
        </p:spPr>
        <p:txBody>
          <a:bodyPr wrap="square" anchor="t">
            <a:spAutoFit/>
          </a:bodyPr>
          <a:lstStyle/>
          <a:p>
            <a:pPr algn="l"/>
            <a:r>
              <a:rPr sz="1100" b="1">
                <a:solidFill>
                  <a:srgbClr val="FFFFFF"/>
                </a:solidFill>
                <a:latin typeface="Arial"/>
              </a:rPr>
              <a:t>Cost</a:t>
            </a:r>
          </a:p>
        </p:txBody>
      </p:sp>
      <p:sp>
        <p:nvSpPr>
          <p:cNvPr id="9" name="Rectangle 8"/>
          <p:cNvSpPr/>
          <p:nvPr/>
        </p:nvSpPr>
        <p:spPr>
          <a:xfrm>
            <a:off x="5577840" y="1417320"/>
            <a:ext cx="1298448" cy="45720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79" y="1545336"/>
            <a:ext cx="1115568" cy="182880"/>
          </a:xfrm>
          <a:prstGeom prst="rect">
            <a:avLst/>
          </a:prstGeom>
          <a:noFill/>
        </p:spPr>
        <p:txBody>
          <a:bodyPr wrap="square" anchor="t">
            <a:spAutoFit/>
          </a:bodyPr>
          <a:lstStyle/>
          <a:p>
            <a:pPr algn="l"/>
            <a:r>
              <a:rPr sz="1100" b="1">
                <a:solidFill>
                  <a:srgbClr val="FFFFFF"/>
                </a:solidFill>
                <a:latin typeface="Arial"/>
              </a:rPr>
              <a:t>Speed</a:t>
            </a:r>
          </a:p>
        </p:txBody>
      </p:sp>
      <p:sp>
        <p:nvSpPr>
          <p:cNvPr id="11" name="Rectangle 10"/>
          <p:cNvSpPr/>
          <p:nvPr/>
        </p:nvSpPr>
        <p:spPr>
          <a:xfrm>
            <a:off x="6995160" y="1417320"/>
            <a:ext cx="2084831" cy="45720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86600" y="1545336"/>
            <a:ext cx="1901951" cy="182880"/>
          </a:xfrm>
          <a:prstGeom prst="rect">
            <a:avLst/>
          </a:prstGeom>
          <a:noFill/>
        </p:spPr>
        <p:txBody>
          <a:bodyPr wrap="square" anchor="t">
            <a:spAutoFit/>
          </a:bodyPr>
          <a:lstStyle/>
          <a:p>
            <a:pPr algn="l"/>
            <a:r>
              <a:rPr sz="1100" b="1">
                <a:solidFill>
                  <a:srgbClr val="FFFFFF"/>
                </a:solidFill>
                <a:latin typeface="Arial"/>
              </a:rPr>
              <a:t>Decision value</a:t>
            </a:r>
          </a:p>
        </p:txBody>
      </p:sp>
      <p:sp>
        <p:nvSpPr>
          <p:cNvPr id="13" name="Rectangle 12"/>
          <p:cNvSpPr/>
          <p:nvPr/>
        </p:nvSpPr>
        <p:spPr>
          <a:xfrm>
            <a:off x="9189720" y="1417320"/>
            <a:ext cx="2286000" cy="45720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81160" y="1545336"/>
            <a:ext cx="2103120" cy="182880"/>
          </a:xfrm>
          <a:prstGeom prst="rect">
            <a:avLst/>
          </a:prstGeom>
          <a:noFill/>
        </p:spPr>
        <p:txBody>
          <a:bodyPr wrap="square" anchor="t">
            <a:spAutoFit/>
          </a:bodyPr>
          <a:lstStyle/>
          <a:p>
            <a:pPr algn="l"/>
            <a:r>
              <a:rPr sz="1100" b="1">
                <a:solidFill>
                  <a:srgbClr val="FFFFFF"/>
                </a:solidFill>
                <a:latin typeface="Arial"/>
              </a:rPr>
              <a:t>Risk</a:t>
            </a:r>
          </a:p>
        </p:txBody>
      </p:sp>
      <p:sp>
        <p:nvSpPr>
          <p:cNvPr id="15" name="Rectangle 14"/>
          <p:cNvSpPr/>
          <p:nvPr/>
        </p:nvSpPr>
        <p:spPr>
          <a:xfrm>
            <a:off x="566928" y="1901952"/>
            <a:ext cx="3547872"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103120"/>
            <a:ext cx="3364991" cy="274320"/>
          </a:xfrm>
          <a:prstGeom prst="rect">
            <a:avLst/>
          </a:prstGeom>
          <a:noFill/>
        </p:spPr>
        <p:txBody>
          <a:bodyPr wrap="square" anchor="t">
            <a:spAutoFit/>
          </a:bodyPr>
          <a:lstStyle/>
          <a:p>
            <a:pPr algn="l"/>
            <a:r>
              <a:rPr sz="1100" b="0">
                <a:solidFill>
                  <a:srgbClr val="000000"/>
                </a:solidFill>
                <a:latin typeface="Arial"/>
              </a:rPr>
              <a:t>1. Continue ad hoc spreadsheet reporting</a:t>
            </a:r>
          </a:p>
        </p:txBody>
      </p:sp>
      <p:sp>
        <p:nvSpPr>
          <p:cNvPr id="17" name="Rectangle 16"/>
          <p:cNvSpPr/>
          <p:nvPr/>
        </p:nvSpPr>
        <p:spPr>
          <a:xfrm>
            <a:off x="4206240" y="1901952"/>
            <a:ext cx="1261872"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79" y="2103120"/>
            <a:ext cx="1078992" cy="274320"/>
          </a:xfrm>
          <a:prstGeom prst="rect">
            <a:avLst/>
          </a:prstGeom>
          <a:noFill/>
        </p:spPr>
        <p:txBody>
          <a:bodyPr wrap="square" anchor="t">
            <a:spAutoFit/>
          </a:bodyPr>
          <a:lstStyle/>
          <a:p>
            <a:pPr algn="l"/>
            <a:r>
              <a:rPr sz="1100" b="0">
                <a:solidFill>
                  <a:srgbClr val="000000"/>
                </a:solidFill>
                <a:latin typeface="Arial"/>
              </a:rPr>
              <a:t>Low</a:t>
            </a:r>
          </a:p>
        </p:txBody>
      </p:sp>
      <p:sp>
        <p:nvSpPr>
          <p:cNvPr id="19" name="Rectangle 18"/>
          <p:cNvSpPr/>
          <p:nvPr/>
        </p:nvSpPr>
        <p:spPr>
          <a:xfrm>
            <a:off x="5577840" y="1901952"/>
            <a:ext cx="1298448"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79" y="2103120"/>
            <a:ext cx="1115568" cy="274320"/>
          </a:xfrm>
          <a:prstGeom prst="rect">
            <a:avLst/>
          </a:prstGeom>
          <a:noFill/>
        </p:spPr>
        <p:txBody>
          <a:bodyPr wrap="square" anchor="t">
            <a:spAutoFit/>
          </a:bodyPr>
          <a:lstStyle/>
          <a:p>
            <a:pPr algn="l"/>
            <a:r>
              <a:rPr sz="1100" b="0">
                <a:solidFill>
                  <a:srgbClr val="000000"/>
                </a:solidFill>
                <a:latin typeface="Arial"/>
              </a:rPr>
              <a:t>Immediate</a:t>
            </a:r>
          </a:p>
        </p:txBody>
      </p:sp>
      <p:sp>
        <p:nvSpPr>
          <p:cNvPr id="21" name="Rectangle 20"/>
          <p:cNvSpPr/>
          <p:nvPr/>
        </p:nvSpPr>
        <p:spPr>
          <a:xfrm>
            <a:off x="6995160" y="1901952"/>
            <a:ext cx="2084831"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86600" y="2103120"/>
            <a:ext cx="1901951" cy="274320"/>
          </a:xfrm>
          <a:prstGeom prst="rect">
            <a:avLst/>
          </a:prstGeom>
          <a:noFill/>
        </p:spPr>
        <p:txBody>
          <a:bodyPr wrap="square" anchor="t">
            <a:spAutoFit/>
          </a:bodyPr>
          <a:lstStyle/>
          <a:p>
            <a:pPr algn="l"/>
            <a:r>
              <a:rPr sz="1100" b="0">
                <a:solidFill>
                  <a:srgbClr val="000000"/>
                </a:solidFill>
                <a:latin typeface="Arial"/>
              </a:rPr>
              <a:t>Low</a:t>
            </a:r>
          </a:p>
        </p:txBody>
      </p:sp>
      <p:sp>
        <p:nvSpPr>
          <p:cNvPr id="23" name="Rectangle 22"/>
          <p:cNvSpPr/>
          <p:nvPr/>
        </p:nvSpPr>
        <p:spPr>
          <a:xfrm>
            <a:off x="9189720" y="1901952"/>
            <a:ext cx="2286000"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81160" y="2103120"/>
            <a:ext cx="2103120" cy="274320"/>
          </a:xfrm>
          <a:prstGeom prst="rect">
            <a:avLst/>
          </a:prstGeom>
          <a:noFill/>
        </p:spPr>
        <p:txBody>
          <a:bodyPr wrap="square" anchor="t">
            <a:spAutoFit/>
          </a:bodyPr>
          <a:lstStyle/>
          <a:p>
            <a:pPr algn="l"/>
            <a:r>
              <a:rPr sz="1100" b="0">
                <a:solidFill>
                  <a:srgbClr val="000000"/>
                </a:solidFill>
                <a:latin typeface="Arial"/>
              </a:rPr>
              <a:t>High inconsistency</a:t>
            </a:r>
          </a:p>
        </p:txBody>
      </p:sp>
      <p:sp>
        <p:nvSpPr>
          <p:cNvPr id="25" name="Rectangle 24"/>
          <p:cNvSpPr/>
          <p:nvPr/>
        </p:nvSpPr>
        <p:spPr>
          <a:xfrm>
            <a:off x="566928" y="2670048"/>
            <a:ext cx="3547872" cy="749808"/>
          </a:xfrm>
          <a:prstGeom prst="rect">
            <a:avLst/>
          </a:prstGeom>
          <a:solidFill>
            <a:srgbClr val="FCF0F0"/>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2871216"/>
            <a:ext cx="3364991" cy="274320"/>
          </a:xfrm>
          <a:prstGeom prst="rect">
            <a:avLst/>
          </a:prstGeom>
          <a:noFill/>
        </p:spPr>
        <p:txBody>
          <a:bodyPr wrap="square" anchor="t">
            <a:spAutoFit/>
          </a:bodyPr>
          <a:lstStyle/>
          <a:p>
            <a:pPr algn="l"/>
            <a:r>
              <a:rPr sz="1100" b="1">
                <a:solidFill>
                  <a:srgbClr val="000000"/>
                </a:solidFill>
                <a:latin typeface="Arial"/>
              </a:rPr>
              <a:t>2. Run Excel-to-Tableau pilot</a:t>
            </a:r>
          </a:p>
        </p:txBody>
      </p:sp>
      <p:sp>
        <p:nvSpPr>
          <p:cNvPr id="27" name="Rectangle 26"/>
          <p:cNvSpPr/>
          <p:nvPr/>
        </p:nvSpPr>
        <p:spPr>
          <a:xfrm>
            <a:off x="4206240" y="2670048"/>
            <a:ext cx="1261872" cy="749808"/>
          </a:xfrm>
          <a:prstGeom prst="rect">
            <a:avLst/>
          </a:prstGeom>
          <a:solidFill>
            <a:srgbClr val="FCF0F0"/>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97679" y="2871216"/>
            <a:ext cx="1078992" cy="274320"/>
          </a:xfrm>
          <a:prstGeom prst="rect">
            <a:avLst/>
          </a:prstGeom>
          <a:noFill/>
        </p:spPr>
        <p:txBody>
          <a:bodyPr wrap="square" anchor="t">
            <a:spAutoFit/>
          </a:bodyPr>
          <a:lstStyle/>
          <a:p>
            <a:pPr algn="l"/>
            <a:r>
              <a:rPr sz="1100" b="0">
                <a:solidFill>
                  <a:srgbClr val="000000"/>
                </a:solidFill>
                <a:latin typeface="Arial"/>
              </a:rPr>
              <a:t>Low*</a:t>
            </a:r>
          </a:p>
        </p:txBody>
      </p:sp>
      <p:sp>
        <p:nvSpPr>
          <p:cNvPr id="29" name="Rectangle 28"/>
          <p:cNvSpPr/>
          <p:nvPr/>
        </p:nvSpPr>
        <p:spPr>
          <a:xfrm>
            <a:off x="5577840" y="2670048"/>
            <a:ext cx="1298448" cy="749808"/>
          </a:xfrm>
          <a:prstGeom prst="rect">
            <a:avLst/>
          </a:prstGeom>
          <a:solidFill>
            <a:srgbClr val="FCF0F0"/>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79" y="2871216"/>
            <a:ext cx="1115568" cy="274320"/>
          </a:xfrm>
          <a:prstGeom prst="rect">
            <a:avLst/>
          </a:prstGeom>
          <a:noFill/>
        </p:spPr>
        <p:txBody>
          <a:bodyPr wrap="square" anchor="t">
            <a:spAutoFit/>
          </a:bodyPr>
          <a:lstStyle/>
          <a:p>
            <a:pPr algn="l"/>
            <a:r>
              <a:rPr sz="1100" b="0">
                <a:solidFill>
                  <a:srgbClr val="000000"/>
                </a:solidFill>
                <a:latin typeface="Arial"/>
              </a:rPr>
              <a:t>4 weeks</a:t>
            </a:r>
          </a:p>
        </p:txBody>
      </p:sp>
      <p:sp>
        <p:nvSpPr>
          <p:cNvPr id="31" name="Rectangle 30"/>
          <p:cNvSpPr/>
          <p:nvPr/>
        </p:nvSpPr>
        <p:spPr>
          <a:xfrm>
            <a:off x="6995160" y="2670048"/>
            <a:ext cx="2084831" cy="749808"/>
          </a:xfrm>
          <a:prstGeom prst="rect">
            <a:avLst/>
          </a:prstGeom>
          <a:solidFill>
            <a:srgbClr val="FCF0F0"/>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86600" y="2871216"/>
            <a:ext cx="1901951" cy="274320"/>
          </a:xfrm>
          <a:prstGeom prst="rect">
            <a:avLst/>
          </a:prstGeom>
          <a:noFill/>
        </p:spPr>
        <p:txBody>
          <a:bodyPr wrap="square" anchor="t">
            <a:spAutoFit/>
          </a:bodyPr>
          <a:lstStyle/>
          <a:p>
            <a:pPr algn="l"/>
            <a:r>
              <a:rPr sz="1100" b="0">
                <a:solidFill>
                  <a:srgbClr val="000000"/>
                </a:solidFill>
                <a:latin typeface="Arial"/>
              </a:rPr>
              <a:t>High</a:t>
            </a:r>
          </a:p>
        </p:txBody>
      </p:sp>
      <p:sp>
        <p:nvSpPr>
          <p:cNvPr id="33" name="Rectangle 32"/>
          <p:cNvSpPr/>
          <p:nvPr/>
        </p:nvSpPr>
        <p:spPr>
          <a:xfrm>
            <a:off x="9189720" y="2670048"/>
            <a:ext cx="2286000" cy="749808"/>
          </a:xfrm>
          <a:prstGeom prst="rect">
            <a:avLst/>
          </a:prstGeom>
          <a:solidFill>
            <a:srgbClr val="FCF0F0"/>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81160" y="2871216"/>
            <a:ext cx="2103120" cy="274320"/>
          </a:xfrm>
          <a:prstGeom prst="rect">
            <a:avLst/>
          </a:prstGeom>
          <a:noFill/>
        </p:spPr>
        <p:txBody>
          <a:bodyPr wrap="square" anchor="t">
            <a:spAutoFit/>
          </a:bodyPr>
          <a:lstStyle/>
          <a:p>
            <a:pPr algn="l"/>
            <a:r>
              <a:rPr sz="1100" b="0">
                <a:solidFill>
                  <a:srgbClr val="000000"/>
                </a:solidFill>
                <a:latin typeface="Arial"/>
              </a:rPr>
              <a:t>Low</a:t>
            </a:r>
          </a:p>
        </p:txBody>
      </p:sp>
      <p:sp>
        <p:nvSpPr>
          <p:cNvPr id="35" name="Rectangle 34"/>
          <p:cNvSpPr/>
          <p:nvPr/>
        </p:nvSpPr>
        <p:spPr>
          <a:xfrm>
            <a:off x="566928" y="3438144"/>
            <a:ext cx="3547872"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8368" y="3639312"/>
            <a:ext cx="3364991" cy="274320"/>
          </a:xfrm>
          <a:prstGeom prst="rect">
            <a:avLst/>
          </a:prstGeom>
          <a:noFill/>
        </p:spPr>
        <p:txBody>
          <a:bodyPr wrap="square" anchor="t">
            <a:spAutoFit/>
          </a:bodyPr>
          <a:lstStyle/>
          <a:p>
            <a:pPr algn="l"/>
            <a:r>
              <a:rPr sz="1100" b="0">
                <a:solidFill>
                  <a:srgbClr val="000000"/>
                </a:solidFill>
                <a:latin typeface="Arial"/>
              </a:rPr>
              <a:t>3. Buy a new HR analytics platform</a:t>
            </a:r>
          </a:p>
        </p:txBody>
      </p:sp>
      <p:sp>
        <p:nvSpPr>
          <p:cNvPr id="37" name="Rectangle 36"/>
          <p:cNvSpPr/>
          <p:nvPr/>
        </p:nvSpPr>
        <p:spPr>
          <a:xfrm>
            <a:off x="4206240" y="3438144"/>
            <a:ext cx="1261872"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297679" y="3639312"/>
            <a:ext cx="1078992" cy="274320"/>
          </a:xfrm>
          <a:prstGeom prst="rect">
            <a:avLst/>
          </a:prstGeom>
          <a:noFill/>
        </p:spPr>
        <p:txBody>
          <a:bodyPr wrap="square" anchor="t">
            <a:spAutoFit/>
          </a:bodyPr>
          <a:lstStyle/>
          <a:p>
            <a:pPr algn="l"/>
            <a:r>
              <a:rPr sz="1100" b="0">
                <a:solidFill>
                  <a:srgbClr val="000000"/>
                </a:solidFill>
                <a:latin typeface="Arial"/>
              </a:rPr>
              <a:t>High</a:t>
            </a:r>
          </a:p>
        </p:txBody>
      </p:sp>
      <p:sp>
        <p:nvSpPr>
          <p:cNvPr id="39" name="Rectangle 38"/>
          <p:cNvSpPr/>
          <p:nvPr/>
        </p:nvSpPr>
        <p:spPr>
          <a:xfrm>
            <a:off x="5577840" y="3438144"/>
            <a:ext cx="1298448"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669279" y="3639312"/>
            <a:ext cx="1115568" cy="274320"/>
          </a:xfrm>
          <a:prstGeom prst="rect">
            <a:avLst/>
          </a:prstGeom>
          <a:noFill/>
        </p:spPr>
        <p:txBody>
          <a:bodyPr wrap="square" anchor="t">
            <a:spAutoFit/>
          </a:bodyPr>
          <a:lstStyle/>
          <a:p>
            <a:pPr algn="l"/>
            <a:r>
              <a:rPr sz="1100" b="0">
                <a:solidFill>
                  <a:srgbClr val="000000"/>
                </a:solidFill>
                <a:latin typeface="Arial"/>
              </a:rPr>
              <a:t>Months</a:t>
            </a:r>
          </a:p>
        </p:txBody>
      </p:sp>
      <p:sp>
        <p:nvSpPr>
          <p:cNvPr id="41" name="Rectangle 40"/>
          <p:cNvSpPr/>
          <p:nvPr/>
        </p:nvSpPr>
        <p:spPr>
          <a:xfrm>
            <a:off x="6995160" y="3438144"/>
            <a:ext cx="2084831"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86600" y="3639312"/>
            <a:ext cx="1901951" cy="274320"/>
          </a:xfrm>
          <a:prstGeom prst="rect">
            <a:avLst/>
          </a:prstGeom>
          <a:noFill/>
        </p:spPr>
        <p:txBody>
          <a:bodyPr wrap="square" anchor="t">
            <a:spAutoFit/>
          </a:bodyPr>
          <a:lstStyle/>
          <a:p>
            <a:pPr algn="l"/>
            <a:r>
              <a:rPr sz="1100" b="0">
                <a:solidFill>
                  <a:srgbClr val="000000"/>
                </a:solidFill>
                <a:latin typeface="Arial"/>
              </a:rPr>
              <a:t>Potentially high</a:t>
            </a:r>
          </a:p>
        </p:txBody>
      </p:sp>
      <p:sp>
        <p:nvSpPr>
          <p:cNvPr id="43" name="Rectangle 42"/>
          <p:cNvSpPr/>
          <p:nvPr/>
        </p:nvSpPr>
        <p:spPr>
          <a:xfrm>
            <a:off x="9189720" y="3438144"/>
            <a:ext cx="2286000" cy="749808"/>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281160" y="3639312"/>
            <a:ext cx="2103120" cy="274320"/>
          </a:xfrm>
          <a:prstGeom prst="rect">
            <a:avLst/>
          </a:prstGeom>
          <a:noFill/>
        </p:spPr>
        <p:txBody>
          <a:bodyPr wrap="square" anchor="t">
            <a:spAutoFit/>
          </a:bodyPr>
          <a:lstStyle/>
          <a:p>
            <a:pPr algn="l"/>
            <a:r>
              <a:rPr sz="1100" b="0">
                <a:solidFill>
                  <a:srgbClr val="000000"/>
                </a:solidFill>
                <a:latin typeface="Arial"/>
              </a:rPr>
              <a:t>Medium–high</a:t>
            </a:r>
          </a:p>
        </p:txBody>
      </p:sp>
      <p:sp>
        <p:nvSpPr>
          <p:cNvPr id="45" name="Rounded Rectangle 44"/>
          <p:cNvSpPr/>
          <p:nvPr/>
        </p:nvSpPr>
        <p:spPr>
          <a:xfrm>
            <a:off x="749808" y="4681728"/>
            <a:ext cx="10607040" cy="603504"/>
          </a:xfrm>
          <a:prstGeom prst="roundRect">
            <a:avLst>
              <a:gd name="adj" fmla="val 8000"/>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highlight>
                <a:srgbClr val="800000"/>
              </a:highlight>
            </a:endParaRPr>
          </a:p>
        </p:txBody>
      </p:sp>
      <p:sp>
        <p:nvSpPr>
          <p:cNvPr id="46" name="TextBox 45"/>
          <p:cNvSpPr txBox="1"/>
          <p:nvPr/>
        </p:nvSpPr>
        <p:spPr>
          <a:xfrm>
            <a:off x="960120" y="4873752"/>
            <a:ext cx="10104120" cy="292388"/>
          </a:xfrm>
          <a:prstGeom prst="rect">
            <a:avLst/>
          </a:prstGeom>
          <a:noFill/>
        </p:spPr>
        <p:txBody>
          <a:bodyPr wrap="square" anchor="t">
            <a:spAutoFit/>
          </a:bodyPr>
          <a:lstStyle/>
          <a:p>
            <a:pPr algn="l"/>
            <a:r>
              <a:rPr sz="1300" b="1" dirty="0">
                <a:solidFill>
                  <a:schemeClr val="bg1"/>
                </a:solidFill>
                <a:latin typeface="Arial"/>
              </a:rPr>
              <a:t>Recommendation: Choose Option 2 — standardize the current reporting workflow before considering new technology</a:t>
            </a:r>
            <a:r>
              <a:rPr sz="1300" b="1" dirty="0">
                <a:solidFill>
                  <a:srgbClr val="850000"/>
                </a:solidFill>
                <a:latin typeface="Arial"/>
              </a:rPr>
              <a:t>.</a:t>
            </a:r>
          </a:p>
        </p:txBody>
      </p:sp>
      <p:sp>
        <p:nvSpPr>
          <p:cNvPr id="47" name="Rectangle 46"/>
          <p:cNvSpPr/>
          <p:nvPr/>
        </p:nvSpPr>
        <p:spPr>
          <a:xfrm>
            <a:off x="502920" y="5998464"/>
            <a:ext cx="11173968" cy="310896"/>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7512" y="6053328"/>
            <a:ext cx="10789920" cy="164592"/>
          </a:xfrm>
          <a:prstGeom prst="rect">
            <a:avLst/>
          </a:prstGeom>
          <a:noFill/>
        </p:spPr>
        <p:txBody>
          <a:bodyPr wrap="square" anchor="t">
            <a:spAutoFit/>
          </a:bodyPr>
          <a:lstStyle/>
          <a:p>
            <a:pPr algn="l"/>
            <a:r>
              <a:rPr sz="1000" b="1">
                <a:solidFill>
                  <a:srgbClr val="FFFFFF"/>
                </a:solidFill>
                <a:latin typeface="Arial"/>
              </a:rPr>
              <a:t>So what: Prove adoption and data quality with existing tools first.</a:t>
            </a:r>
          </a:p>
        </p:txBody>
      </p:sp>
      <p:sp>
        <p:nvSpPr>
          <p:cNvPr id="49" name="TextBox 48"/>
          <p:cNvSpPr txBox="1"/>
          <p:nvPr/>
        </p:nvSpPr>
        <p:spPr>
          <a:xfrm>
            <a:off x="502920" y="6455664"/>
            <a:ext cx="9875520" cy="201168"/>
          </a:xfrm>
          <a:prstGeom prst="rect">
            <a:avLst/>
          </a:prstGeom>
          <a:noFill/>
        </p:spPr>
        <p:txBody>
          <a:bodyPr wrap="square" anchor="t">
            <a:spAutoFit/>
          </a:bodyPr>
          <a:lstStyle/>
          <a:p>
            <a:pPr algn="l"/>
            <a:r>
              <a:rPr sz="800" b="0">
                <a:solidFill>
                  <a:srgbClr val="666666"/>
                </a:solidFill>
                <a:latin typeface="Arial"/>
              </a:rPr>
              <a:t>Source: Project constraints and illustrative operating assumptions. *Assumes existing Excel and Tableau access.</a:t>
            </a:r>
          </a:p>
        </p:txBody>
      </p:sp>
      <p:sp>
        <p:nvSpPr>
          <p:cNvPr id="50" name="TextBox 49"/>
          <p:cNvSpPr txBox="1"/>
          <p:nvPr/>
        </p:nvSpPr>
        <p:spPr>
          <a:xfrm>
            <a:off x="11356848" y="6455664"/>
            <a:ext cx="274320" cy="201168"/>
          </a:xfrm>
          <a:prstGeom prst="rect">
            <a:avLst/>
          </a:prstGeom>
          <a:noFill/>
        </p:spPr>
        <p:txBody>
          <a:bodyPr wrap="square" anchor="t">
            <a:spAutoFit/>
          </a:bodyPr>
          <a:lstStyle/>
          <a:p>
            <a:pPr algn="r"/>
            <a:r>
              <a:rPr sz="900" b="0">
                <a:solidFill>
                  <a:srgbClr val="666666"/>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89920" cy="594360"/>
          </a:xfrm>
          <a:prstGeom prst="rect">
            <a:avLst/>
          </a:prstGeom>
          <a:noFill/>
        </p:spPr>
        <p:txBody>
          <a:bodyPr wrap="square" anchor="t">
            <a:spAutoFit/>
          </a:bodyPr>
          <a:lstStyle/>
          <a:p>
            <a:pPr algn="l"/>
            <a:r>
              <a:rPr sz="2600" b="1">
                <a:solidFill>
                  <a:srgbClr val="000000"/>
                </a:solidFill>
                <a:latin typeface="Arial"/>
              </a:rPr>
              <a:t>The pilot should combine clear ownership, standardized data, and repeatable Tableau reporting</a:t>
            </a:r>
          </a:p>
        </p:txBody>
      </p:sp>
      <p:sp>
        <p:nvSpPr>
          <p:cNvPr id="3" name="Rectangle 2"/>
          <p:cNvSpPr/>
          <p:nvPr/>
        </p:nvSpPr>
        <p:spPr>
          <a:xfrm>
            <a:off x="621792" y="1156716"/>
            <a:ext cx="1051560" cy="5029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73952"/>
            <a:ext cx="320040" cy="182880"/>
          </a:xfrm>
          <a:prstGeom prst="rect">
            <a:avLst/>
          </a:prstGeom>
          <a:noFill/>
        </p:spPr>
        <p:txBody>
          <a:bodyPr wrap="square" anchor="t">
            <a:spAutoFit/>
          </a:bodyPr>
          <a:lstStyle/>
          <a:p>
            <a:pPr algn="r"/>
            <a:r>
              <a:rPr sz="900" b="0">
                <a:solidFill>
                  <a:srgbClr val="666666"/>
                </a:solidFill>
                <a:latin typeface="Arial"/>
              </a:rPr>
              <a:t>7</a:t>
            </a:r>
          </a:p>
        </p:txBody>
      </p:sp>
      <p:sp>
        <p:nvSpPr>
          <p:cNvPr id="5" name="Rounded Rectangle 4"/>
          <p:cNvSpPr/>
          <p:nvPr/>
        </p:nvSpPr>
        <p:spPr>
          <a:xfrm>
            <a:off x="621792" y="1508760"/>
            <a:ext cx="3246120" cy="3474720"/>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1792" y="1508760"/>
            <a:ext cx="3246120" cy="59436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700784"/>
            <a:ext cx="2880360" cy="182880"/>
          </a:xfrm>
          <a:prstGeom prst="rect">
            <a:avLst/>
          </a:prstGeom>
          <a:noFill/>
        </p:spPr>
        <p:txBody>
          <a:bodyPr wrap="square" anchor="t">
            <a:spAutoFit/>
          </a:bodyPr>
          <a:lstStyle/>
          <a:p>
            <a:pPr algn="ctr"/>
            <a:r>
              <a:rPr sz="1500" b="1">
                <a:solidFill>
                  <a:srgbClr val="FFFFFF"/>
                </a:solidFill>
                <a:latin typeface="Arial"/>
              </a:rPr>
              <a:t>PEOPLE</a:t>
            </a:r>
          </a:p>
        </p:txBody>
      </p:sp>
      <p:sp>
        <p:nvSpPr>
          <p:cNvPr id="8" name="Rectangle 7"/>
          <p:cNvSpPr/>
          <p:nvPr/>
        </p:nvSpPr>
        <p:spPr>
          <a:xfrm>
            <a:off x="822960" y="244144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0704" y="2404872"/>
            <a:ext cx="2514600" cy="310896"/>
          </a:xfrm>
          <a:prstGeom prst="rect">
            <a:avLst/>
          </a:prstGeom>
          <a:noFill/>
        </p:spPr>
        <p:txBody>
          <a:bodyPr wrap="square" anchor="t">
            <a:spAutoFit/>
          </a:bodyPr>
          <a:lstStyle/>
          <a:p>
            <a:pPr algn="l"/>
            <a:r>
              <a:rPr sz="1200" b="0">
                <a:solidFill>
                  <a:srgbClr val="000000"/>
                </a:solidFill>
                <a:latin typeface="Arial"/>
              </a:rPr>
              <a:t>HR analyst owns weekly review</a:t>
            </a:r>
          </a:p>
        </p:txBody>
      </p:sp>
      <p:sp>
        <p:nvSpPr>
          <p:cNvPr id="10" name="Rectangle 9"/>
          <p:cNvSpPr/>
          <p:nvPr/>
        </p:nvSpPr>
        <p:spPr>
          <a:xfrm>
            <a:off x="822960" y="308152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0704" y="3044952"/>
            <a:ext cx="2514600" cy="310896"/>
          </a:xfrm>
          <a:prstGeom prst="rect">
            <a:avLst/>
          </a:prstGeom>
          <a:noFill/>
        </p:spPr>
        <p:txBody>
          <a:bodyPr wrap="square" anchor="t">
            <a:spAutoFit/>
          </a:bodyPr>
          <a:lstStyle/>
          <a:p>
            <a:pPr algn="l"/>
            <a:r>
              <a:rPr sz="1200" b="0">
                <a:solidFill>
                  <a:srgbClr val="000000"/>
                </a:solidFill>
                <a:latin typeface="Arial"/>
              </a:rPr>
              <a:t>HR leader sponsors decisions</a:t>
            </a:r>
          </a:p>
        </p:txBody>
      </p:sp>
      <p:sp>
        <p:nvSpPr>
          <p:cNvPr id="12" name="Rectangle 11"/>
          <p:cNvSpPr/>
          <p:nvPr/>
        </p:nvSpPr>
        <p:spPr>
          <a:xfrm>
            <a:off x="822960" y="372160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60704" y="3685032"/>
            <a:ext cx="2514600" cy="310896"/>
          </a:xfrm>
          <a:prstGeom prst="rect">
            <a:avLst/>
          </a:prstGeom>
          <a:noFill/>
        </p:spPr>
        <p:txBody>
          <a:bodyPr wrap="square" anchor="t">
            <a:spAutoFit/>
          </a:bodyPr>
          <a:lstStyle/>
          <a:p>
            <a:pPr algn="l"/>
            <a:r>
              <a:rPr sz="1200" b="0">
                <a:solidFill>
                  <a:srgbClr val="000000"/>
                </a:solidFill>
                <a:latin typeface="Arial"/>
              </a:rPr>
              <a:t>Department leaders validate findings</a:t>
            </a:r>
          </a:p>
        </p:txBody>
      </p:sp>
      <p:sp>
        <p:nvSpPr>
          <p:cNvPr id="14" name="Rounded Rectangle 13"/>
          <p:cNvSpPr/>
          <p:nvPr/>
        </p:nvSpPr>
        <p:spPr>
          <a:xfrm>
            <a:off x="4160520" y="1508760"/>
            <a:ext cx="3246120" cy="3474720"/>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60520" y="1508760"/>
            <a:ext cx="3246120" cy="59436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25112" y="1700784"/>
            <a:ext cx="2880360" cy="182880"/>
          </a:xfrm>
          <a:prstGeom prst="rect">
            <a:avLst/>
          </a:prstGeom>
          <a:noFill/>
        </p:spPr>
        <p:txBody>
          <a:bodyPr wrap="square" anchor="t">
            <a:spAutoFit/>
          </a:bodyPr>
          <a:lstStyle/>
          <a:p>
            <a:pPr algn="ctr"/>
            <a:r>
              <a:rPr sz="1500" b="1">
                <a:solidFill>
                  <a:srgbClr val="FFFFFF"/>
                </a:solidFill>
                <a:latin typeface="Arial"/>
              </a:rPr>
              <a:t>PROCESS</a:t>
            </a:r>
          </a:p>
        </p:txBody>
      </p:sp>
      <p:sp>
        <p:nvSpPr>
          <p:cNvPr id="17" name="Rectangle 16"/>
          <p:cNvSpPr/>
          <p:nvPr/>
        </p:nvSpPr>
        <p:spPr>
          <a:xfrm>
            <a:off x="4361688" y="244144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9431" y="2404872"/>
            <a:ext cx="2514600" cy="310896"/>
          </a:xfrm>
          <a:prstGeom prst="rect">
            <a:avLst/>
          </a:prstGeom>
          <a:noFill/>
        </p:spPr>
        <p:txBody>
          <a:bodyPr wrap="square" anchor="t">
            <a:spAutoFit/>
          </a:bodyPr>
          <a:lstStyle/>
          <a:p>
            <a:pPr algn="l"/>
            <a:r>
              <a:rPr sz="1200" b="0">
                <a:solidFill>
                  <a:srgbClr val="000000"/>
                </a:solidFill>
                <a:latin typeface="Arial"/>
              </a:rPr>
              <a:t>Data-refresh checklist</a:t>
            </a:r>
          </a:p>
        </p:txBody>
      </p:sp>
      <p:sp>
        <p:nvSpPr>
          <p:cNvPr id="19" name="Rectangle 18"/>
          <p:cNvSpPr/>
          <p:nvPr/>
        </p:nvSpPr>
        <p:spPr>
          <a:xfrm>
            <a:off x="4361688" y="308152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99431" y="3044952"/>
            <a:ext cx="2514600" cy="310896"/>
          </a:xfrm>
          <a:prstGeom prst="rect">
            <a:avLst/>
          </a:prstGeom>
          <a:noFill/>
        </p:spPr>
        <p:txBody>
          <a:bodyPr wrap="square" anchor="t">
            <a:spAutoFit/>
          </a:bodyPr>
          <a:lstStyle/>
          <a:p>
            <a:pPr algn="l"/>
            <a:r>
              <a:rPr sz="1200" b="0">
                <a:solidFill>
                  <a:srgbClr val="000000"/>
                </a:solidFill>
                <a:latin typeface="Arial"/>
              </a:rPr>
              <a:t>Field-validation rules</a:t>
            </a:r>
          </a:p>
        </p:txBody>
      </p:sp>
      <p:sp>
        <p:nvSpPr>
          <p:cNvPr id="21" name="Rectangle 20"/>
          <p:cNvSpPr/>
          <p:nvPr/>
        </p:nvSpPr>
        <p:spPr>
          <a:xfrm>
            <a:off x="4361688" y="372160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99431" y="3685032"/>
            <a:ext cx="2514600" cy="310896"/>
          </a:xfrm>
          <a:prstGeom prst="rect">
            <a:avLst/>
          </a:prstGeom>
          <a:noFill/>
        </p:spPr>
        <p:txBody>
          <a:bodyPr wrap="square" anchor="t">
            <a:spAutoFit/>
          </a:bodyPr>
          <a:lstStyle/>
          <a:p>
            <a:pPr algn="l"/>
            <a:r>
              <a:rPr sz="1200" b="0">
                <a:solidFill>
                  <a:srgbClr val="000000"/>
                </a:solidFill>
                <a:latin typeface="Arial"/>
              </a:rPr>
              <a:t>Weekly review cadence</a:t>
            </a:r>
          </a:p>
        </p:txBody>
      </p:sp>
      <p:sp>
        <p:nvSpPr>
          <p:cNvPr id="23" name="Rounded Rectangle 22"/>
          <p:cNvSpPr/>
          <p:nvPr/>
        </p:nvSpPr>
        <p:spPr>
          <a:xfrm>
            <a:off x="7699248" y="1508760"/>
            <a:ext cx="3246120" cy="3474720"/>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699248" y="1508760"/>
            <a:ext cx="3246120" cy="594360"/>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0" y="1700784"/>
            <a:ext cx="2880360" cy="182880"/>
          </a:xfrm>
          <a:prstGeom prst="rect">
            <a:avLst/>
          </a:prstGeom>
          <a:noFill/>
        </p:spPr>
        <p:txBody>
          <a:bodyPr wrap="square" anchor="t">
            <a:spAutoFit/>
          </a:bodyPr>
          <a:lstStyle/>
          <a:p>
            <a:pPr algn="ctr"/>
            <a:r>
              <a:rPr sz="1500" b="1">
                <a:solidFill>
                  <a:srgbClr val="FFFFFF"/>
                </a:solidFill>
                <a:latin typeface="Arial"/>
              </a:rPr>
              <a:t>TECHNOLOGY</a:t>
            </a:r>
          </a:p>
        </p:txBody>
      </p:sp>
      <p:sp>
        <p:nvSpPr>
          <p:cNvPr id="26" name="Rectangle 25"/>
          <p:cNvSpPr/>
          <p:nvPr/>
        </p:nvSpPr>
        <p:spPr>
          <a:xfrm>
            <a:off x="7900416" y="244144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38160" y="2404872"/>
            <a:ext cx="2514600" cy="310896"/>
          </a:xfrm>
          <a:prstGeom prst="rect">
            <a:avLst/>
          </a:prstGeom>
          <a:noFill/>
        </p:spPr>
        <p:txBody>
          <a:bodyPr wrap="square" anchor="t">
            <a:spAutoFit/>
          </a:bodyPr>
          <a:lstStyle/>
          <a:p>
            <a:pPr algn="l"/>
            <a:r>
              <a:rPr sz="1200" b="0">
                <a:solidFill>
                  <a:srgbClr val="000000"/>
                </a:solidFill>
                <a:latin typeface="Arial"/>
              </a:rPr>
              <a:t>Tableau dashboard as shared view</a:t>
            </a:r>
          </a:p>
        </p:txBody>
      </p:sp>
      <p:sp>
        <p:nvSpPr>
          <p:cNvPr id="28" name="Rectangle 27"/>
          <p:cNvSpPr/>
          <p:nvPr/>
        </p:nvSpPr>
        <p:spPr>
          <a:xfrm>
            <a:off x="7900416" y="308152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38160" y="3044952"/>
            <a:ext cx="2514600" cy="310896"/>
          </a:xfrm>
          <a:prstGeom prst="rect">
            <a:avLst/>
          </a:prstGeom>
          <a:noFill/>
        </p:spPr>
        <p:txBody>
          <a:bodyPr wrap="square" anchor="t">
            <a:spAutoFit/>
          </a:bodyPr>
          <a:lstStyle/>
          <a:p>
            <a:pPr algn="l"/>
            <a:r>
              <a:rPr sz="1200" b="0">
                <a:solidFill>
                  <a:srgbClr val="000000"/>
                </a:solidFill>
                <a:latin typeface="Arial"/>
              </a:rPr>
              <a:t>Excel source-data template</a:t>
            </a:r>
          </a:p>
        </p:txBody>
      </p:sp>
      <p:sp>
        <p:nvSpPr>
          <p:cNvPr id="30" name="Rectangle 29"/>
          <p:cNvSpPr/>
          <p:nvPr/>
        </p:nvSpPr>
        <p:spPr>
          <a:xfrm>
            <a:off x="7900416" y="3721608"/>
            <a:ext cx="109728" cy="109728"/>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38160" y="3685032"/>
            <a:ext cx="2514600" cy="310896"/>
          </a:xfrm>
          <a:prstGeom prst="rect">
            <a:avLst/>
          </a:prstGeom>
          <a:noFill/>
        </p:spPr>
        <p:txBody>
          <a:bodyPr wrap="square" anchor="t">
            <a:spAutoFit/>
          </a:bodyPr>
          <a:lstStyle/>
          <a:p>
            <a:pPr algn="l"/>
            <a:r>
              <a:rPr sz="1200" b="0">
                <a:solidFill>
                  <a:srgbClr val="000000"/>
                </a:solidFill>
                <a:latin typeface="Arial"/>
              </a:rPr>
              <a:t>Role and access controls</a:t>
            </a:r>
          </a:p>
        </p:txBody>
      </p:sp>
      <p:sp>
        <p:nvSpPr>
          <p:cNvPr id="32" name="Rounded Rectangle 31"/>
          <p:cNvSpPr/>
          <p:nvPr/>
        </p:nvSpPr>
        <p:spPr>
          <a:xfrm>
            <a:off x="777240" y="5193792"/>
            <a:ext cx="10625328" cy="457200"/>
          </a:xfrm>
          <a:prstGeom prst="roundRect">
            <a:avLst>
              <a:gd name="adj" fmla="val 8000"/>
            </a:avLst>
          </a:prstGeom>
          <a:solidFill>
            <a:srgbClr val="FCF0F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5340096"/>
            <a:ext cx="10149840" cy="164592"/>
          </a:xfrm>
          <a:prstGeom prst="rect">
            <a:avLst/>
          </a:prstGeom>
          <a:noFill/>
        </p:spPr>
        <p:txBody>
          <a:bodyPr wrap="square" anchor="t">
            <a:spAutoFit/>
          </a:bodyPr>
          <a:lstStyle/>
          <a:p>
            <a:pPr algn="l"/>
            <a:r>
              <a:rPr sz="1100" b="1">
                <a:solidFill>
                  <a:srgbClr val="850000"/>
                </a:solidFill>
                <a:latin typeface="Arial"/>
              </a:rPr>
              <a:t>Establish a four-week routine: refresh validated data, review priority segments weekly, and document actions or data gaps.</a:t>
            </a:r>
          </a:p>
        </p:txBody>
      </p:sp>
      <p:sp>
        <p:nvSpPr>
          <p:cNvPr id="34" name="Rectangle 33"/>
          <p:cNvSpPr/>
          <p:nvPr/>
        </p:nvSpPr>
        <p:spPr>
          <a:xfrm>
            <a:off x="502920" y="5998464"/>
            <a:ext cx="11173968" cy="310896"/>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 y="6053328"/>
            <a:ext cx="10789920" cy="164592"/>
          </a:xfrm>
          <a:prstGeom prst="rect">
            <a:avLst/>
          </a:prstGeom>
          <a:noFill/>
        </p:spPr>
        <p:txBody>
          <a:bodyPr wrap="square" anchor="t">
            <a:spAutoFit/>
          </a:bodyPr>
          <a:lstStyle/>
          <a:p>
            <a:pPr algn="l"/>
            <a:r>
              <a:rPr sz="1000" b="1">
                <a:solidFill>
                  <a:srgbClr val="FFFFFF"/>
                </a:solidFill>
                <a:latin typeface="Arial"/>
              </a:rPr>
              <a:t>So what: The solution is a team-led reporting routine, not just a dashboard.</a:t>
            </a:r>
          </a:p>
        </p:txBody>
      </p:sp>
      <p:sp>
        <p:nvSpPr>
          <p:cNvPr id="36" name="TextBox 35"/>
          <p:cNvSpPr txBox="1"/>
          <p:nvPr/>
        </p:nvSpPr>
        <p:spPr>
          <a:xfrm>
            <a:off x="502920" y="6455664"/>
            <a:ext cx="9875520" cy="201168"/>
          </a:xfrm>
          <a:prstGeom prst="rect">
            <a:avLst/>
          </a:prstGeom>
          <a:noFill/>
        </p:spPr>
        <p:txBody>
          <a:bodyPr wrap="square" anchor="t">
            <a:spAutoFit/>
          </a:bodyPr>
          <a:lstStyle/>
          <a:p>
            <a:pPr algn="l"/>
            <a:r>
              <a:rPr sz="800" b="0">
                <a:solidFill>
                  <a:srgbClr val="666666"/>
                </a:solidFill>
                <a:latin typeface="Arial"/>
              </a:rPr>
              <a:t>Source: Project design and proposed pilot operating model. Ownership assignments are illustrative.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89920" cy="594360"/>
          </a:xfrm>
          <a:prstGeom prst="rect">
            <a:avLst/>
          </a:prstGeom>
          <a:noFill/>
        </p:spPr>
        <p:txBody>
          <a:bodyPr wrap="square" anchor="t">
            <a:spAutoFit/>
          </a:bodyPr>
          <a:lstStyle/>
          <a:p>
            <a:pPr algn="l"/>
            <a:r>
              <a:rPr sz="2600" b="1" dirty="0">
                <a:solidFill>
                  <a:srgbClr val="000000"/>
                </a:solidFill>
                <a:latin typeface="Arial"/>
              </a:rPr>
              <a:t>Approve the four-week pilot and assign HR and operations owners this month</a:t>
            </a:r>
          </a:p>
        </p:txBody>
      </p:sp>
      <p:sp>
        <p:nvSpPr>
          <p:cNvPr id="3" name="Rectangle 2"/>
          <p:cNvSpPr/>
          <p:nvPr/>
        </p:nvSpPr>
        <p:spPr>
          <a:xfrm>
            <a:off x="640080" y="1139337"/>
            <a:ext cx="1051560" cy="50292"/>
          </a:xfrm>
          <a:prstGeom prst="rect">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73952"/>
            <a:ext cx="320040" cy="182880"/>
          </a:xfrm>
          <a:prstGeom prst="rect">
            <a:avLst/>
          </a:prstGeom>
          <a:noFill/>
        </p:spPr>
        <p:txBody>
          <a:bodyPr wrap="square" anchor="t">
            <a:spAutoFit/>
          </a:bodyPr>
          <a:lstStyle/>
          <a:p>
            <a:pPr algn="r"/>
            <a:r>
              <a:rPr sz="900" b="0">
                <a:solidFill>
                  <a:srgbClr val="666666"/>
                </a:solidFill>
                <a:latin typeface="Arial"/>
              </a:rPr>
              <a:t>8</a:t>
            </a:r>
          </a:p>
        </p:txBody>
      </p:sp>
      <p:sp>
        <p:nvSpPr>
          <p:cNvPr id="5" name="Rounded Rectangle 4"/>
          <p:cNvSpPr/>
          <p:nvPr/>
        </p:nvSpPr>
        <p:spPr>
          <a:xfrm>
            <a:off x="566928" y="1481328"/>
            <a:ext cx="2514600" cy="2852928"/>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481328"/>
            <a:ext cx="2514600" cy="438912"/>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 y="1609344"/>
            <a:ext cx="2286000" cy="164592"/>
          </a:xfrm>
          <a:prstGeom prst="rect">
            <a:avLst/>
          </a:prstGeom>
          <a:noFill/>
        </p:spPr>
        <p:txBody>
          <a:bodyPr wrap="square" anchor="t">
            <a:spAutoFit/>
          </a:bodyPr>
          <a:lstStyle/>
          <a:p>
            <a:pPr algn="ctr"/>
            <a:r>
              <a:rPr sz="1100" b="1">
                <a:solidFill>
                  <a:srgbClr val="FFFFFF"/>
                </a:solidFill>
                <a:latin typeface="Arial"/>
              </a:rPr>
              <a:t>WEEK 1</a:t>
            </a:r>
          </a:p>
        </p:txBody>
      </p:sp>
      <p:sp>
        <p:nvSpPr>
          <p:cNvPr id="8" name="TextBox 7"/>
          <p:cNvSpPr txBox="1"/>
          <p:nvPr/>
        </p:nvSpPr>
        <p:spPr>
          <a:xfrm>
            <a:off x="713232" y="2084831"/>
            <a:ext cx="2194560" cy="256032"/>
          </a:xfrm>
          <a:prstGeom prst="rect">
            <a:avLst/>
          </a:prstGeom>
          <a:noFill/>
        </p:spPr>
        <p:txBody>
          <a:bodyPr wrap="square" anchor="t">
            <a:spAutoFit/>
          </a:bodyPr>
          <a:lstStyle/>
          <a:p>
            <a:pPr algn="ctr"/>
            <a:r>
              <a:rPr sz="1700" b="1">
                <a:solidFill>
                  <a:srgbClr val="850000"/>
                </a:solidFill>
                <a:latin typeface="Arial"/>
              </a:rPr>
              <a:t>PREPARE</a:t>
            </a:r>
          </a:p>
        </p:txBody>
      </p:sp>
      <p:sp>
        <p:nvSpPr>
          <p:cNvPr id="9" name="TextBox 8"/>
          <p:cNvSpPr txBox="1"/>
          <p:nvPr/>
        </p:nvSpPr>
        <p:spPr>
          <a:xfrm>
            <a:off x="795528" y="2670048"/>
            <a:ext cx="2011680" cy="347472"/>
          </a:xfrm>
          <a:prstGeom prst="rect">
            <a:avLst/>
          </a:prstGeom>
          <a:noFill/>
        </p:spPr>
        <p:txBody>
          <a:bodyPr wrap="square" anchor="t">
            <a:spAutoFit/>
          </a:bodyPr>
          <a:lstStyle/>
          <a:p>
            <a:pPr algn="ctr"/>
            <a:r>
              <a:rPr sz="1100" b="1">
                <a:solidFill>
                  <a:srgbClr val="000000"/>
                </a:solidFill>
                <a:latin typeface="Arial"/>
              </a:rPr>
              <a:t>HR analyst</a:t>
            </a:r>
          </a:p>
        </p:txBody>
      </p:sp>
      <p:sp>
        <p:nvSpPr>
          <p:cNvPr id="10" name="TextBox 9"/>
          <p:cNvSpPr txBox="1"/>
          <p:nvPr/>
        </p:nvSpPr>
        <p:spPr>
          <a:xfrm>
            <a:off x="795528" y="3246120"/>
            <a:ext cx="2011680" cy="640080"/>
          </a:xfrm>
          <a:prstGeom prst="rect">
            <a:avLst/>
          </a:prstGeom>
          <a:noFill/>
        </p:spPr>
        <p:txBody>
          <a:bodyPr wrap="square" anchor="t">
            <a:spAutoFit/>
          </a:bodyPr>
          <a:lstStyle/>
          <a:p>
            <a:pPr algn="ctr"/>
            <a:r>
              <a:rPr sz="1000" b="0">
                <a:solidFill>
                  <a:srgbClr val="000000"/>
                </a:solidFill>
                <a:latin typeface="Arial"/>
              </a:rPr>
              <a:t>Data template and validation checklist</a:t>
            </a:r>
          </a:p>
        </p:txBody>
      </p:sp>
      <p:sp>
        <p:nvSpPr>
          <p:cNvPr id="11" name="Rounded Rectangle 10"/>
          <p:cNvSpPr/>
          <p:nvPr/>
        </p:nvSpPr>
        <p:spPr>
          <a:xfrm>
            <a:off x="3401568" y="1481328"/>
            <a:ext cx="2514600" cy="2852928"/>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01568" y="1481328"/>
            <a:ext cx="2514600" cy="438912"/>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11296" y="1609344"/>
            <a:ext cx="2286000" cy="164592"/>
          </a:xfrm>
          <a:prstGeom prst="rect">
            <a:avLst/>
          </a:prstGeom>
          <a:noFill/>
        </p:spPr>
        <p:txBody>
          <a:bodyPr wrap="square" anchor="t">
            <a:spAutoFit/>
          </a:bodyPr>
          <a:lstStyle/>
          <a:p>
            <a:pPr algn="ctr"/>
            <a:r>
              <a:rPr sz="1100" b="1">
                <a:solidFill>
                  <a:srgbClr val="FFFFFF"/>
                </a:solidFill>
                <a:latin typeface="Arial"/>
              </a:rPr>
              <a:t>WEEK 2</a:t>
            </a:r>
          </a:p>
        </p:txBody>
      </p:sp>
      <p:sp>
        <p:nvSpPr>
          <p:cNvPr id="14" name="TextBox 13"/>
          <p:cNvSpPr txBox="1"/>
          <p:nvPr/>
        </p:nvSpPr>
        <p:spPr>
          <a:xfrm>
            <a:off x="3547872" y="2084831"/>
            <a:ext cx="2194560" cy="256032"/>
          </a:xfrm>
          <a:prstGeom prst="rect">
            <a:avLst/>
          </a:prstGeom>
          <a:noFill/>
        </p:spPr>
        <p:txBody>
          <a:bodyPr wrap="square" anchor="t">
            <a:spAutoFit/>
          </a:bodyPr>
          <a:lstStyle/>
          <a:p>
            <a:pPr algn="ctr"/>
            <a:r>
              <a:rPr sz="1700" b="1">
                <a:solidFill>
                  <a:srgbClr val="850000"/>
                </a:solidFill>
                <a:latin typeface="Arial"/>
              </a:rPr>
              <a:t>LAUNCH</a:t>
            </a:r>
          </a:p>
        </p:txBody>
      </p:sp>
      <p:sp>
        <p:nvSpPr>
          <p:cNvPr id="15" name="TextBox 14"/>
          <p:cNvSpPr txBox="1"/>
          <p:nvPr/>
        </p:nvSpPr>
        <p:spPr>
          <a:xfrm>
            <a:off x="3630168" y="2670048"/>
            <a:ext cx="2011680" cy="261610"/>
          </a:xfrm>
          <a:prstGeom prst="rect">
            <a:avLst/>
          </a:prstGeom>
          <a:noFill/>
        </p:spPr>
        <p:txBody>
          <a:bodyPr wrap="square" anchor="t">
            <a:spAutoFit/>
          </a:bodyPr>
          <a:lstStyle/>
          <a:p>
            <a:pPr algn="ctr"/>
            <a:r>
              <a:rPr sz="1100" b="1" dirty="0">
                <a:solidFill>
                  <a:srgbClr val="000000"/>
                </a:solidFill>
                <a:latin typeface="Arial"/>
              </a:rPr>
              <a:t>HR analyst </a:t>
            </a:r>
            <a:r>
              <a:rPr lang="en-US" sz="1100" b="1" dirty="0">
                <a:solidFill>
                  <a:srgbClr val="000000"/>
                </a:solidFill>
                <a:latin typeface="Arial"/>
              </a:rPr>
              <a:t>&amp;</a:t>
            </a:r>
            <a:r>
              <a:rPr sz="1100" b="1" dirty="0">
                <a:solidFill>
                  <a:srgbClr val="000000"/>
                </a:solidFill>
                <a:latin typeface="Arial"/>
              </a:rPr>
              <a:t> HR leader</a:t>
            </a:r>
          </a:p>
        </p:txBody>
      </p:sp>
      <p:sp>
        <p:nvSpPr>
          <p:cNvPr id="16" name="TextBox 15"/>
          <p:cNvSpPr txBox="1"/>
          <p:nvPr/>
        </p:nvSpPr>
        <p:spPr>
          <a:xfrm>
            <a:off x="3630168" y="3246120"/>
            <a:ext cx="2011680" cy="640080"/>
          </a:xfrm>
          <a:prstGeom prst="rect">
            <a:avLst/>
          </a:prstGeom>
          <a:noFill/>
        </p:spPr>
        <p:txBody>
          <a:bodyPr wrap="square" anchor="t">
            <a:spAutoFit/>
          </a:bodyPr>
          <a:lstStyle/>
          <a:p>
            <a:pPr algn="ctr"/>
            <a:r>
              <a:rPr sz="1000" b="0">
                <a:solidFill>
                  <a:srgbClr val="000000"/>
                </a:solidFill>
                <a:latin typeface="Arial"/>
              </a:rPr>
              <a:t>Dashboard refresh and baseline review</a:t>
            </a:r>
          </a:p>
        </p:txBody>
      </p:sp>
      <p:sp>
        <p:nvSpPr>
          <p:cNvPr id="17" name="Rounded Rectangle 16"/>
          <p:cNvSpPr/>
          <p:nvPr/>
        </p:nvSpPr>
        <p:spPr>
          <a:xfrm>
            <a:off x="6236208" y="1481328"/>
            <a:ext cx="2514600" cy="2852928"/>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8" y="1481328"/>
            <a:ext cx="2514600" cy="438912"/>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45936" y="1609344"/>
            <a:ext cx="2286000" cy="164592"/>
          </a:xfrm>
          <a:prstGeom prst="rect">
            <a:avLst/>
          </a:prstGeom>
          <a:noFill/>
        </p:spPr>
        <p:txBody>
          <a:bodyPr wrap="square" anchor="t">
            <a:spAutoFit/>
          </a:bodyPr>
          <a:lstStyle/>
          <a:p>
            <a:pPr algn="ctr"/>
            <a:r>
              <a:rPr sz="1100" b="1">
                <a:solidFill>
                  <a:srgbClr val="FFFFFF"/>
                </a:solidFill>
                <a:latin typeface="Arial"/>
              </a:rPr>
              <a:t>WEEK 3</a:t>
            </a:r>
          </a:p>
        </p:txBody>
      </p:sp>
      <p:sp>
        <p:nvSpPr>
          <p:cNvPr id="20" name="TextBox 19"/>
          <p:cNvSpPr txBox="1"/>
          <p:nvPr/>
        </p:nvSpPr>
        <p:spPr>
          <a:xfrm>
            <a:off x="6382512" y="2084831"/>
            <a:ext cx="2194560" cy="256032"/>
          </a:xfrm>
          <a:prstGeom prst="rect">
            <a:avLst/>
          </a:prstGeom>
          <a:noFill/>
        </p:spPr>
        <p:txBody>
          <a:bodyPr wrap="square" anchor="t">
            <a:spAutoFit/>
          </a:bodyPr>
          <a:lstStyle/>
          <a:p>
            <a:pPr algn="ctr"/>
            <a:r>
              <a:rPr sz="1700" b="1">
                <a:solidFill>
                  <a:srgbClr val="850000"/>
                </a:solidFill>
                <a:latin typeface="Arial"/>
              </a:rPr>
              <a:t>MEASURE</a:t>
            </a:r>
          </a:p>
        </p:txBody>
      </p:sp>
      <p:sp>
        <p:nvSpPr>
          <p:cNvPr id="21" name="TextBox 20"/>
          <p:cNvSpPr txBox="1"/>
          <p:nvPr/>
        </p:nvSpPr>
        <p:spPr>
          <a:xfrm>
            <a:off x="6464808" y="2670048"/>
            <a:ext cx="2011680" cy="261610"/>
          </a:xfrm>
          <a:prstGeom prst="rect">
            <a:avLst/>
          </a:prstGeom>
          <a:noFill/>
        </p:spPr>
        <p:txBody>
          <a:bodyPr wrap="square" anchor="t">
            <a:spAutoFit/>
          </a:bodyPr>
          <a:lstStyle/>
          <a:p>
            <a:pPr algn="ctr"/>
            <a:r>
              <a:rPr sz="1100" b="1" dirty="0">
                <a:solidFill>
                  <a:srgbClr val="000000"/>
                </a:solidFill>
                <a:latin typeface="Arial"/>
              </a:rPr>
              <a:t>HR </a:t>
            </a:r>
            <a:r>
              <a:rPr lang="en-US" sz="1100" b="1" dirty="0">
                <a:solidFill>
                  <a:srgbClr val="000000"/>
                </a:solidFill>
                <a:latin typeface="Arial"/>
              </a:rPr>
              <a:t>&amp; </a:t>
            </a:r>
            <a:r>
              <a:rPr sz="1100" b="1" dirty="0">
                <a:solidFill>
                  <a:srgbClr val="000000"/>
                </a:solidFill>
                <a:latin typeface="Arial"/>
              </a:rPr>
              <a:t>department leaders</a:t>
            </a:r>
          </a:p>
        </p:txBody>
      </p:sp>
      <p:sp>
        <p:nvSpPr>
          <p:cNvPr id="22" name="TextBox 21"/>
          <p:cNvSpPr txBox="1"/>
          <p:nvPr/>
        </p:nvSpPr>
        <p:spPr>
          <a:xfrm>
            <a:off x="6464808" y="3246120"/>
            <a:ext cx="2011680" cy="640080"/>
          </a:xfrm>
          <a:prstGeom prst="rect">
            <a:avLst/>
          </a:prstGeom>
          <a:noFill/>
        </p:spPr>
        <p:txBody>
          <a:bodyPr wrap="square" anchor="t">
            <a:spAutoFit/>
          </a:bodyPr>
          <a:lstStyle/>
          <a:p>
            <a:pPr algn="ctr"/>
            <a:r>
              <a:rPr sz="1000" b="0">
                <a:solidFill>
                  <a:srgbClr val="000000"/>
                </a:solidFill>
                <a:latin typeface="Arial"/>
              </a:rPr>
              <a:t>Priority findings and data gaps</a:t>
            </a:r>
          </a:p>
        </p:txBody>
      </p:sp>
      <p:sp>
        <p:nvSpPr>
          <p:cNvPr id="23" name="Rounded Rectangle 22"/>
          <p:cNvSpPr/>
          <p:nvPr/>
        </p:nvSpPr>
        <p:spPr>
          <a:xfrm>
            <a:off x="9070848" y="1481328"/>
            <a:ext cx="2514600" cy="2852928"/>
          </a:xfrm>
          <a:prstGeom prst="roundRect">
            <a:avLst>
              <a:gd name="adj" fmla="val 8000"/>
            </a:avLst>
          </a:prstGeom>
          <a:solidFill>
            <a:srgbClr val="F2F2F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70848" y="1481328"/>
            <a:ext cx="2514600" cy="438912"/>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0576" y="1609344"/>
            <a:ext cx="2286000" cy="164592"/>
          </a:xfrm>
          <a:prstGeom prst="rect">
            <a:avLst/>
          </a:prstGeom>
          <a:noFill/>
        </p:spPr>
        <p:txBody>
          <a:bodyPr wrap="square" anchor="t">
            <a:spAutoFit/>
          </a:bodyPr>
          <a:lstStyle/>
          <a:p>
            <a:pPr algn="ctr"/>
            <a:r>
              <a:rPr sz="1100" b="1">
                <a:solidFill>
                  <a:srgbClr val="FFFFFF"/>
                </a:solidFill>
                <a:latin typeface="Arial"/>
              </a:rPr>
              <a:t>WEEK 4</a:t>
            </a:r>
          </a:p>
        </p:txBody>
      </p:sp>
      <p:sp>
        <p:nvSpPr>
          <p:cNvPr id="26" name="TextBox 25"/>
          <p:cNvSpPr txBox="1"/>
          <p:nvPr/>
        </p:nvSpPr>
        <p:spPr>
          <a:xfrm>
            <a:off x="9217152" y="2084831"/>
            <a:ext cx="2194560" cy="256032"/>
          </a:xfrm>
          <a:prstGeom prst="rect">
            <a:avLst/>
          </a:prstGeom>
          <a:noFill/>
        </p:spPr>
        <p:txBody>
          <a:bodyPr wrap="square" anchor="t">
            <a:spAutoFit/>
          </a:bodyPr>
          <a:lstStyle/>
          <a:p>
            <a:pPr algn="ctr"/>
            <a:r>
              <a:rPr sz="1700" b="1">
                <a:solidFill>
                  <a:srgbClr val="850000"/>
                </a:solidFill>
                <a:latin typeface="Arial"/>
              </a:rPr>
              <a:t>DECIDE</a:t>
            </a:r>
          </a:p>
        </p:txBody>
      </p:sp>
      <p:sp>
        <p:nvSpPr>
          <p:cNvPr id="27" name="TextBox 26"/>
          <p:cNvSpPr txBox="1"/>
          <p:nvPr/>
        </p:nvSpPr>
        <p:spPr>
          <a:xfrm>
            <a:off x="9299448" y="2670048"/>
            <a:ext cx="2011680" cy="430887"/>
          </a:xfrm>
          <a:prstGeom prst="rect">
            <a:avLst/>
          </a:prstGeom>
          <a:noFill/>
        </p:spPr>
        <p:txBody>
          <a:bodyPr wrap="square" anchor="t">
            <a:spAutoFit/>
          </a:bodyPr>
          <a:lstStyle/>
          <a:p>
            <a:pPr algn="ctr"/>
            <a:r>
              <a:rPr sz="1100" b="1" dirty="0">
                <a:solidFill>
                  <a:srgbClr val="000000"/>
                </a:solidFill>
                <a:latin typeface="Arial"/>
              </a:rPr>
              <a:t>HR Director </a:t>
            </a:r>
            <a:r>
              <a:rPr lang="en-US" sz="1100" b="1" dirty="0">
                <a:solidFill>
                  <a:srgbClr val="000000"/>
                </a:solidFill>
                <a:latin typeface="Arial"/>
              </a:rPr>
              <a:t>&amp;</a:t>
            </a:r>
            <a:r>
              <a:rPr sz="1100" b="1" dirty="0">
                <a:solidFill>
                  <a:srgbClr val="000000"/>
                </a:solidFill>
                <a:latin typeface="Arial"/>
              </a:rPr>
              <a:t> Operations leader</a:t>
            </a:r>
          </a:p>
        </p:txBody>
      </p:sp>
      <p:sp>
        <p:nvSpPr>
          <p:cNvPr id="28" name="TextBox 27"/>
          <p:cNvSpPr txBox="1"/>
          <p:nvPr/>
        </p:nvSpPr>
        <p:spPr>
          <a:xfrm>
            <a:off x="9299448" y="3246120"/>
            <a:ext cx="2011680" cy="640080"/>
          </a:xfrm>
          <a:prstGeom prst="rect">
            <a:avLst/>
          </a:prstGeom>
          <a:noFill/>
        </p:spPr>
        <p:txBody>
          <a:bodyPr wrap="square" anchor="t">
            <a:spAutoFit/>
          </a:bodyPr>
          <a:lstStyle/>
          <a:p>
            <a:pPr algn="ctr"/>
            <a:r>
              <a:rPr sz="1000" b="0">
                <a:solidFill>
                  <a:srgbClr val="000000"/>
                </a:solidFill>
                <a:latin typeface="Arial"/>
              </a:rPr>
              <a:t>Continue, refine, or scale decision</a:t>
            </a:r>
          </a:p>
        </p:txBody>
      </p:sp>
      <p:sp>
        <p:nvSpPr>
          <p:cNvPr id="29" name="TextBox 28"/>
          <p:cNvSpPr txBox="1"/>
          <p:nvPr/>
        </p:nvSpPr>
        <p:spPr>
          <a:xfrm>
            <a:off x="640080" y="4645152"/>
            <a:ext cx="2743200" cy="256032"/>
          </a:xfrm>
          <a:prstGeom prst="rect">
            <a:avLst/>
          </a:prstGeom>
          <a:noFill/>
        </p:spPr>
        <p:txBody>
          <a:bodyPr wrap="square" anchor="t">
            <a:spAutoFit/>
          </a:bodyPr>
          <a:lstStyle/>
          <a:p>
            <a:pPr algn="l"/>
            <a:r>
              <a:rPr sz="1400" b="1">
                <a:solidFill>
                  <a:srgbClr val="000000"/>
                </a:solidFill>
                <a:latin typeface="Arial"/>
              </a:rPr>
              <a:t>Proposed success measures</a:t>
            </a:r>
          </a:p>
        </p:txBody>
      </p:sp>
      <p:sp>
        <p:nvSpPr>
          <p:cNvPr id="30" name="TextBox 29"/>
          <p:cNvSpPr txBox="1"/>
          <p:nvPr/>
        </p:nvSpPr>
        <p:spPr>
          <a:xfrm>
            <a:off x="749808" y="4956048"/>
            <a:ext cx="6126480" cy="685800"/>
          </a:xfrm>
          <a:prstGeom prst="rect">
            <a:avLst/>
          </a:prstGeom>
          <a:noFill/>
        </p:spPr>
        <p:txBody>
          <a:bodyPr wrap="square" anchor="t">
            <a:spAutoFit/>
          </a:bodyPr>
          <a:lstStyle/>
          <a:p>
            <a:pPr algn="l"/>
            <a:r>
              <a:rPr sz="1100" b="0" dirty="0">
                <a:solidFill>
                  <a:srgbClr val="000000"/>
                </a:solidFill>
                <a:latin typeface="Arial"/>
              </a:rPr>
              <a:t>• 100% of required dashboard fields validated before refresh
• Weekly review completed for the top three departments
• Priority questions and data gaps documented for leadership</a:t>
            </a:r>
          </a:p>
        </p:txBody>
      </p:sp>
      <p:sp>
        <p:nvSpPr>
          <p:cNvPr id="31" name="Rounded Rectangle 30"/>
          <p:cNvSpPr/>
          <p:nvPr/>
        </p:nvSpPr>
        <p:spPr>
          <a:xfrm>
            <a:off x="7178040" y="4754880"/>
            <a:ext cx="4370832" cy="1024128"/>
          </a:xfrm>
          <a:prstGeom prst="roundRect">
            <a:avLst>
              <a:gd name="adj" fmla="val 8000"/>
            </a:avLst>
          </a:prstGeom>
          <a:solidFill>
            <a:srgbClr val="850000"/>
          </a:solidFill>
          <a:ln>
            <a:solidFill>
              <a:srgbClr val="85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06640" y="4828032"/>
            <a:ext cx="3886200" cy="182880"/>
          </a:xfrm>
          <a:prstGeom prst="rect">
            <a:avLst/>
          </a:prstGeom>
          <a:noFill/>
        </p:spPr>
        <p:txBody>
          <a:bodyPr wrap="square" anchor="t">
            <a:spAutoFit/>
          </a:bodyPr>
          <a:lstStyle/>
          <a:p>
            <a:pPr algn="ctr"/>
            <a:r>
              <a:rPr sz="1100" b="1">
                <a:solidFill>
                  <a:srgbClr val="FFFFFF"/>
                </a:solidFill>
                <a:latin typeface="Arial"/>
              </a:rPr>
              <a:t>DECISION REQUESTED</a:t>
            </a:r>
          </a:p>
        </p:txBody>
      </p:sp>
      <p:sp>
        <p:nvSpPr>
          <p:cNvPr id="33" name="TextBox 32"/>
          <p:cNvSpPr txBox="1"/>
          <p:nvPr/>
        </p:nvSpPr>
        <p:spPr>
          <a:xfrm>
            <a:off x="7424927" y="5138928"/>
            <a:ext cx="3840480" cy="347472"/>
          </a:xfrm>
          <a:prstGeom prst="rect">
            <a:avLst/>
          </a:prstGeom>
          <a:noFill/>
        </p:spPr>
        <p:txBody>
          <a:bodyPr wrap="square" anchor="t">
            <a:spAutoFit/>
          </a:bodyPr>
          <a:lstStyle/>
          <a:p>
            <a:pPr algn="ctr"/>
            <a:r>
              <a:rPr sz="1200" b="1" dirty="0">
                <a:solidFill>
                  <a:srgbClr val="FFFFFF"/>
                </a:solidFill>
                <a:latin typeface="Arial"/>
              </a:rPr>
              <a:t>Approve the pilot and assign an HR owner, operations sponsor, and weekly review participants.</a:t>
            </a:r>
          </a:p>
        </p:txBody>
      </p:sp>
      <p:sp>
        <p:nvSpPr>
          <p:cNvPr id="34" name="TextBox 33"/>
          <p:cNvSpPr txBox="1"/>
          <p:nvPr/>
        </p:nvSpPr>
        <p:spPr>
          <a:xfrm>
            <a:off x="502920" y="6455664"/>
            <a:ext cx="9875520" cy="201168"/>
          </a:xfrm>
          <a:prstGeom prst="rect">
            <a:avLst/>
          </a:prstGeom>
          <a:noFill/>
        </p:spPr>
        <p:txBody>
          <a:bodyPr wrap="square" anchor="t">
            <a:spAutoFit/>
          </a:bodyPr>
          <a:lstStyle/>
          <a:p>
            <a:pPr algn="l"/>
            <a:r>
              <a:rPr sz="800" b="0">
                <a:solidFill>
                  <a:srgbClr val="666666"/>
                </a:solidFill>
                <a:latin typeface="Arial"/>
              </a:rPr>
              <a:t>Source: Proposed pilot plan based on existing dashboard capability. Measures are proposed, not historical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1299</Words>
  <Application>Microsoft Office PowerPoint</Application>
  <PresentationFormat>Widescreen</PresentationFormat>
  <Paragraphs>129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Oduro-Amoyaw, Steve</cp:lastModifiedBy>
  <cp:revision>3</cp:revision>
  <dcterms:created xsi:type="dcterms:W3CDTF">2013-01-27T09:14:16Z</dcterms:created>
  <dcterms:modified xsi:type="dcterms:W3CDTF">2026-10-05T08:48:49Z</dcterms:modified>
  <cp:category/>
</cp:coreProperties>
</file>